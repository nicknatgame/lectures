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charts/chart9.xml" ContentType="application/vnd.openxmlformats-officedocument.drawingml.chart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10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charts/chart13.xml" ContentType="application/vnd.openxmlformats-officedocument.drawingml.chart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charts/chart14.xml" ContentType="application/vnd.openxmlformats-officedocument.drawingml.chart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charts/chart18.xml" ContentType="application/vnd.openxmlformats-officedocument.drawingml.chart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charts/chart19.xml" ContentType="application/vnd.openxmlformats-officedocument.drawingml.chart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charts/chart26.xml" ContentType="application/vnd.openxmlformats-officedocument.drawingml.chart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notesMasterIdLst>
    <p:notesMasterId r:id="rId9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notesMaster" Target="notesMasters/notesMaster1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Корпоративные облигации по эшелонам, 01.07.2026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A"/>
              </a:solidFill>
              <a:effectLst/>
            </c:spPr>
          </c:dPt>
          <c:dPt>
            <c:idx val="1"/>
            <c:bubble3D val="0"/>
            <c:spPr>
              <a:solidFill>
                <a:srgbClr val="3D6E8F"/>
              </a:solidFill>
              <a:effectLst/>
            </c:spPr>
          </c:dPt>
          <c:dPt>
            <c:idx val="2"/>
            <c:bubble3D val="0"/>
            <c:spPr>
              <a:solidFill>
                <a:srgbClr val="D4A72C"/>
              </a:solidFill>
              <a:effectLst/>
            </c:spPr>
          </c:dPt>
          <c:dPt>
            <c:idx val="3"/>
            <c:bubble3D val="0"/>
            <c:spPr>
              <a:solidFill>
                <a:srgbClr val="C455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1-й эшелон (AAA–AA)</c:v>
                </c:pt>
                <c:pt idx="1">
                  <c:v>2-й эшелон (A)</c:v>
                </c:pt>
                <c:pt idx="2">
                  <c:v>3-й эшелон (BBB–B)</c:v>
                </c:pt>
                <c:pt idx="3">
                  <c:v>ВДО и без рейтинга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78.3</c:v>
                </c:pt>
                <c:pt idx="1">
                  <c:v>11.6</c:v>
                </c:pt>
                <c:pt idx="2">
                  <c:v>6.6</c:v>
                </c:pt>
                <c:pt idx="3">
                  <c:v>3.5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5F6F6A"/>
                </a:solidFill>
                <a:latin typeface="Calibri"/>
              </a:rPr>
              <a:t>Купон по периодам,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Купон, %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5F6F6A"/>
                </a:solidFill>
                <a:latin typeface="Calibri"/>
              </a:rPr>
              <a:t>Купон по периодам,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Купон, %</c:v>
                </c:pt>
              </c:strCache>
            </c:strRef>
          </c:tx>
          <c:spPr>
            <a:solidFill>
              <a:srgbClr val="3D6E8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13</c:v>
                </c:pt>
                <c:pt idx="2">
                  <c:v>11</c:v>
                </c:pt>
                <c:pt idx="3">
                  <c:v>11</c:v>
                </c:pt>
                <c:pt idx="4">
                  <c:v>9</c:v>
                </c:pt>
                <c:pt idx="5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5F6F6A"/>
                </a:solidFill>
                <a:latin typeface="Calibri"/>
              </a:rPr>
              <a:t>Купон по периодам,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Купон, %</c:v>
                </c:pt>
              </c:strCache>
            </c:strRef>
          </c:tx>
          <c:spPr>
            <a:solidFill>
              <a:srgbClr val="D4A72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16</c:v>
                </c:pt>
                <c:pt idx="3">
                  <c:v>15</c:v>
                </c:pt>
                <c:pt idx="4">
                  <c:v>13</c:v>
                </c:pt>
                <c:pt idx="5">
                  <c:v>11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F6F6A"/>
                </a:solidFill>
                <a:latin typeface="Calibri"/>
              </a:rPr>
              <a:t>Облигация: номинал 1 000 руб., купон 10 %, 5 лет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Купон</c:v>
                </c:pt>
              </c:strCache>
            </c:strRef>
          </c:tx>
          <c:spPr>
            <a:solidFill>
              <a:srgbClr val="D4A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Номинал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Год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</c:scaling>
        <c:delete val="0"/>
        <c:axPos val="l"/>
        <c:majorGridlines>
          <c:spPr>
            <a:ln w="6350" cap="flat">
              <a:solidFill>
                <a:srgbClr val="E6EDE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Купон меняется от периода к периоду, руб.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Купон</c:v>
                </c:pt>
              </c:strCache>
            </c:strRef>
          </c:tx>
          <c:spPr>
            <a:solidFill>
              <a:srgbClr val="D4A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140</c:v>
                </c:pt>
                <c:pt idx="2">
                  <c:v>160</c:v>
                </c:pt>
                <c:pt idx="3">
                  <c:v>150</c:v>
                </c:pt>
                <c:pt idx="4">
                  <c:v>130</c:v>
                </c:pt>
                <c:pt idx="5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Номинал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Купонный период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</c:scaling>
        <c:delete val="0"/>
        <c:axPos val="l"/>
        <c:majorGridlines>
          <c:spPr>
            <a:ln w="6350" cap="flat">
              <a:solidFill>
                <a:srgbClr val="E6EDE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Доля облигаций с плавающим купоном,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флоатеров в корпоративных облигациях, %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01.10.2024</c:v>
                  </c:pt>
                  <c:pt idx="1">
                    <c:v>01.01.2026</c:v>
                  </c:pt>
                  <c:pt idx="2">
                    <c:v>01.07.2026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21.1</c:v>
                </c:pt>
                <c:pt idx="1">
                  <c:v>26.6</c:v>
                </c:pt>
                <c:pt idx="2">
                  <c:v>32.6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Платежи, руб.: 453 / 413 / 373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Купон 12 % на остаток</c:v>
                </c:pt>
              </c:strCache>
            </c:strRef>
          </c:tx>
          <c:spPr>
            <a:solidFill>
              <a:srgbClr val="D4A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Погашение номинала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333.33</c:v>
                </c:pt>
                <c:pt idx="1">
                  <c:v>333.33</c:v>
                </c:pt>
                <c:pt idx="2">
                  <c:v>333.33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Год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>
              <a:solidFill>
                <a:srgbClr val="E6EDE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Объём первичных размещений корпоративных облигаций, трлн руб.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Размещения, трлн руб. (Cbonds)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I пол. 2026</c:v>
                  </c:pt>
                  <c:pt idx="3">
                    <c:v>9 мес. 2026 (оценка)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4.9</c:v>
                </c:pt>
                <c:pt idx="3">
                  <c:v>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F6F6A"/>
                </a:solidFill>
                <a:latin typeface="Calibri"/>
              </a:rPr>
              <a:t>Корпоративные облигации в обращении на начало года, трлн руб.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Номинальный объём на начало года, трлн руб.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Sheet1!$A$2:$A$23</c:f>
              <c:multiLvlStrCache>
                <c:ptCount val="22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  <c:pt idx="5">
                    <c:v>2011</c:v>
                  </c:pt>
                  <c:pt idx="6">
                    <c:v>2012</c:v>
                  </c:pt>
                  <c:pt idx="7">
                    <c:v>2013</c:v>
                  </c:pt>
                  <c:pt idx="8">
                    <c:v>2014</c:v>
                  </c:pt>
                  <c:pt idx="9">
                    <c:v>2015</c:v>
                  </c:pt>
                  <c:pt idx="10">
                    <c:v>2016</c:v>
                  </c:pt>
                  <c:pt idx="11">
                    <c:v>2017</c:v>
                  </c:pt>
                  <c:pt idx="12">
                    <c:v>2018</c:v>
                  </c:pt>
                  <c:pt idx="13">
                    <c:v>2019</c:v>
                  </c:pt>
                  <c:pt idx="14">
                    <c:v>2020</c:v>
                  </c:pt>
                  <c:pt idx="15">
                    <c:v>2021</c:v>
                  </c:pt>
                  <c:pt idx="16">
                    <c:v>2022</c:v>
                  </c:pt>
                  <c:pt idx="17">
                    <c:v>2023</c:v>
                  </c:pt>
                  <c:pt idx="18">
                    <c:v>2024</c:v>
                  </c:pt>
                  <c:pt idx="19">
                    <c:v>2025</c:v>
                  </c:pt>
                  <c:pt idx="20">
                    <c:v>2026</c:v>
                  </c:pt>
                  <c:pt idx="21">
                    <c:v>07.2026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0.47</c:v>
                </c:pt>
                <c:pt idx="1">
                  <c:v>0.9</c:v>
                </c:pt>
                <c:pt idx="2">
                  <c:v>1.27</c:v>
                </c:pt>
                <c:pt idx="3">
                  <c:v>1.75</c:v>
                </c:pt>
                <c:pt idx="4">
                  <c:v>2.42</c:v>
                </c:pt>
                <c:pt idx="5">
                  <c:v>2.98</c:v>
                </c:pt>
                <c:pt idx="6">
                  <c:v>3.44</c:v>
                </c:pt>
                <c:pt idx="7">
                  <c:v>4.21</c:v>
                </c:pt>
                <c:pt idx="8">
                  <c:v>5.27</c:v>
                </c:pt>
                <c:pt idx="9">
                  <c:v>7.54</c:v>
                </c:pt>
                <c:pt idx="10">
                  <c:v>8.07</c:v>
                </c:pt>
                <c:pt idx="11">
                  <c:v>9.49</c:v>
                </c:pt>
                <c:pt idx="12">
                  <c:v>11.75</c:v>
                </c:pt>
                <c:pt idx="13">
                  <c:v>11.94</c:v>
                </c:pt>
                <c:pt idx="14">
                  <c:v>13.04</c:v>
                </c:pt>
                <c:pt idx="15">
                  <c:v>16.3</c:v>
                </c:pt>
                <c:pt idx="16">
                  <c:v>16.32</c:v>
                </c:pt>
                <c:pt idx="17">
                  <c:v>18.89</c:v>
                </c:pt>
                <c:pt idx="18">
                  <c:v>23.47</c:v>
                </c:pt>
                <c:pt idx="19">
                  <c:v>29.91</c:v>
                </c:pt>
                <c:pt idx="20">
                  <c:v>32.97</c:v>
                </c:pt>
                <c:pt idx="21">
                  <c:v>35.77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Отраслевая структура корпоративных облигаций, 01.04.2026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Доля, %</c:v>
                </c:pt>
              </c:strCache>
            </c:strRef>
          </c:tx>
          <c:spPr>
            <a:solidFill>
              <a:srgbClr val="3D6E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Нефть и газ</c:v>
                  </c:pt>
                  <c:pt idx="1">
                    <c:v>Институты развития</c:v>
                  </c:pt>
                  <c:pt idx="2">
                    <c:v>Прочие финансы</c:v>
                  </c:pt>
                  <c:pt idx="3">
                    <c:v>Банки</c:v>
                  </c:pt>
                  <c:pt idx="4">
                    <c:v>Транспорт</c:v>
                  </c:pt>
                  <c:pt idx="5">
                    <c:v>Металлургия</c:v>
                  </c:pt>
                  <c:pt idx="6">
                    <c:v>Электроэнергетика</c:v>
                  </c:pt>
                  <c:pt idx="7">
                    <c:v>Связь</c:v>
                  </c:pt>
                  <c:pt idx="8">
                    <c:v>Лизинг</c:v>
                  </c:pt>
                  <c:pt idx="9">
                    <c:v>Строительство</c:v>
                  </c:pt>
                  <c:pt idx="10">
                    <c:v>Прочие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24.9</c:v>
                </c:pt>
                <c:pt idx="1">
                  <c:v>12.3</c:v>
                </c:pt>
                <c:pt idx="2">
                  <c:v>11.5</c:v>
                </c:pt>
                <c:pt idx="3">
                  <c:v>9.5</c:v>
                </c:pt>
                <c:pt idx="4">
                  <c:v>6.2</c:v>
                </c:pt>
                <c:pt idx="5">
                  <c:v>5</c:v>
                </c:pt>
                <c:pt idx="6">
                  <c:v>4.5</c:v>
                </c:pt>
                <c:pt idx="7">
                  <c:v>4.4</c:v>
                </c:pt>
                <c:pt idx="8">
                  <c:v>4.1</c:v>
                </c:pt>
                <c:pt idx="9">
                  <c:v>3.5</c:v>
                </c:pt>
                <c:pt idx="10">
                  <c:v>14.1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По эшелонам, 01.07.2026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A"/>
              </a:solidFill>
              <a:effectLst/>
            </c:spPr>
          </c:dPt>
          <c:dPt>
            <c:idx val="1"/>
            <c:bubble3D val="0"/>
            <c:spPr>
              <a:solidFill>
                <a:srgbClr val="3D6E8F"/>
              </a:solidFill>
              <a:effectLst/>
            </c:spPr>
          </c:dPt>
          <c:dPt>
            <c:idx val="2"/>
            <c:bubble3D val="0"/>
            <c:spPr>
              <a:solidFill>
                <a:srgbClr val="D4A72C"/>
              </a:solidFill>
              <a:effectLst/>
            </c:spPr>
          </c:dPt>
          <c:dPt>
            <c:idx val="3"/>
            <c:bubble3D val="0"/>
            <c:spPr>
              <a:solidFill>
                <a:srgbClr val="C455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1-й эшелон (AAA–AA)</c:v>
                </c:pt>
                <c:pt idx="1">
                  <c:v>2-й эшелон (A)</c:v>
                </c:pt>
                <c:pt idx="2">
                  <c:v>3-й эшелон (BBB–B)</c:v>
                </c:pt>
                <c:pt idx="3">
                  <c:v>ВДО и без рейтинга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78.3</c:v>
                </c:pt>
                <c:pt idx="1">
                  <c:v>11.6</c:v>
                </c:pt>
                <c:pt idx="2">
                  <c:v>6.6</c:v>
                </c:pt>
                <c:pt idx="3">
                  <c:v>3.5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F6F6A"/>
                </a:solidFill>
                <a:latin typeface="Calibri"/>
              </a:rPr>
              <a:t>Ключевая ставка Банка России после каждого решения, % годовых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Ключевая ставка, %</c:v>
                </c:pt>
              </c:strCache>
            </c:strRef>
          </c:tx>
          <c:spPr>
            <a:solidFill>
              <a:srgbClr val="C4553D"/>
            </a:solidFill>
            <a:ln w="38100" cap="flat">
              <a:solidFill>
                <a:srgbClr val="C4553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4553D"/>
              </a:solidFill>
              <a:ln w="9525" cap="flat">
                <a:solidFill>
                  <a:srgbClr val="C4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окт.24</c:v>
                  </c:pt>
                  <c:pt idx="1">
                    <c:v>июн.25</c:v>
                  </c:pt>
                  <c:pt idx="2">
                    <c:v>июл.25</c:v>
                  </c:pt>
                  <c:pt idx="3">
                    <c:v>сен.25</c:v>
                  </c:pt>
                  <c:pt idx="4">
                    <c:v>окт.25</c:v>
                  </c:pt>
                  <c:pt idx="5">
                    <c:v>дек.25</c:v>
                  </c:pt>
                  <c:pt idx="6">
                    <c:v>фев.26</c:v>
                  </c:pt>
                  <c:pt idx="7">
                    <c:v>мар.26</c:v>
                  </c:pt>
                  <c:pt idx="8">
                    <c:v>апр.26</c:v>
                  </c:pt>
                  <c:pt idx="9">
                    <c:v>июн.26</c:v>
                  </c:pt>
                  <c:pt idx="10">
                    <c:v>июл.26</c:v>
                  </c:pt>
                  <c:pt idx="11">
                    <c:v>сен.26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</c:v>
                </c:pt>
                <c:pt idx="1">
                  <c:v>20</c:v>
                </c:pt>
                <c:pt idx="2">
                  <c:v>18</c:v>
                </c:pt>
                <c:pt idx="3">
                  <c:v>17</c:v>
                </c:pt>
                <c:pt idx="4">
                  <c:v>16.5</c:v>
                </c:pt>
                <c:pt idx="5">
                  <c:v>16</c:v>
                </c:pt>
                <c:pt idx="6">
                  <c:v>15.5</c:v>
                </c:pt>
                <c:pt idx="7">
                  <c:v>15</c:v>
                </c:pt>
                <c:pt idx="8">
                  <c:v>14.5</c:v>
                </c:pt>
                <c:pt idx="9">
                  <c:v>14.25</c:v>
                </c:pt>
                <c:pt idx="10">
                  <c:v>14</c:v>
                </c:pt>
                <c:pt idx="11">
                  <c:v>14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2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10"/>
        </c:scaling>
        <c:delete val="0"/>
        <c:axPos val="l"/>
        <c:majorGridlines>
          <c:spPr>
            <a:ln w="6350" cap="flat">
              <a:solidFill>
                <a:srgbClr val="E6ED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F6F6A"/>
                </a:solidFill>
                <a:latin typeface="Calibri"/>
              </a:rPr>
              <a:t>Бескупонная доходность ОФЗ по срокам, % годовых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КБД ОФЗ, %</c:v>
                </c:pt>
              </c:strCache>
            </c:strRef>
          </c:tx>
          <c:spPr>
            <a:solidFill>
              <a:srgbClr val="1F6F5A"/>
            </a:solidFill>
            <a:ln w="38100" cap="flat">
              <a:solidFill>
                <a:srgbClr val="1F6F5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6F5A"/>
              </a:solidFill>
              <a:ln w="9525" cap="flat">
                <a:solidFill>
                  <a:srgbClr val="1F6F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 год</c:v>
                  </c:pt>
                  <c:pt idx="1">
                    <c:v>2 года</c:v>
                  </c:pt>
                  <c:pt idx="2">
                    <c:v>5 лет</c:v>
                  </c:pt>
                  <c:pt idx="3">
                    <c:v>10 лет</c:v>
                  </c:pt>
                  <c:pt idx="4">
                    <c:v>30 лет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13.72</c:v>
                </c:pt>
                <c:pt idx="1">
                  <c:v>15.11</c:v>
                </c:pt>
                <c:pt idx="2">
                  <c:v>16.4</c:v>
                </c:pt>
                <c:pt idx="3">
                  <c:v>16.88</c:v>
                </c:pt>
                <c:pt idx="4">
                  <c:v>17.2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12"/>
        </c:scaling>
        <c:delete val="0"/>
        <c:axPos val="l"/>
        <c:majorGridlines>
          <c:spPr>
            <a:ln w="6350" cap="flat">
              <a:solidFill>
                <a:srgbClr val="E6ED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ОФЗ по типу, 01.07.2026 (30,8 трлн руб.)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ОФЗ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A"/>
              </a:solidFill>
              <a:effectLst/>
            </c:spPr>
          </c:dPt>
          <c:dPt>
            <c:idx val="1"/>
            <c:bubble3D val="0"/>
            <c:spPr>
              <a:solidFill>
                <a:srgbClr val="3D6E8F"/>
              </a:solidFill>
              <a:effectLst/>
            </c:spPr>
          </c:dPt>
          <c:dPt>
            <c:idx val="2"/>
            <c:bubble3D val="0"/>
            <c:spPr>
              <a:solidFill>
                <a:srgbClr val="D4A72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ОФЗ-ПД (постоянный купон)</c:v>
                </c:pt>
                <c:pt idx="1">
                  <c:v>ОФЗ-ПК (флоатеры)</c:v>
                </c:pt>
                <c:pt idx="2">
                  <c:v>ОФЗ-ИН (инфляция)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62.1</c:v>
                </c:pt>
                <c:pt idx="1">
                  <c:v>33.3</c:v>
                </c:pt>
                <c:pt idx="2">
                  <c:v>4.4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Валютные корпоративные облигации, 3,86 трлн руб.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Валюта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553D"/>
              </a:solidFill>
              <a:effectLst/>
            </c:spPr>
          </c:dPt>
          <c:dPt>
            <c:idx val="1"/>
            <c:bubble3D val="0"/>
            <c:spPr>
              <a:solidFill>
                <a:srgbClr val="12312B"/>
              </a:solidFill>
              <a:effectLst/>
            </c:spPr>
          </c:dPt>
          <c:dPt>
            <c:idx val="2"/>
            <c:bubble3D val="0"/>
            <c:spPr>
              <a:solidFill>
                <a:srgbClr val="8FB3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Юани</c:v>
                </c:pt>
                <c:pt idx="1">
                  <c:v>Доллары</c:v>
                </c:pt>
                <c:pt idx="2">
                  <c:v>Евро и прочие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48.5</c:v>
                </c:pt>
                <c:pt idx="1">
                  <c:v>49.4</c:v>
                </c:pt>
                <c:pt idx="2">
                  <c:v>2.1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Первичные размещения 2025 г. по рейтингу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размещений 2025 г., %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AAA</c:v>
                  </c:pt>
                  <c:pt idx="1">
                    <c:v>AA</c:v>
                  </c:pt>
                  <c:pt idx="2">
                    <c:v>A</c:v>
                  </c:pt>
                  <c:pt idx="3">
                    <c:v>ниже 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18</c:v>
                </c:pt>
                <c:pt idx="2">
                  <c:v>9.6</c:v>
                </c:pt>
                <c:pt idx="3">
                  <c:v>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Эмитенты, впервые допустившие технический дефолт или дефолт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Дефолты эмитентов (Эксперт РА)</c:v>
                </c:pt>
              </c:strCache>
            </c:strRef>
          </c:tx>
          <c:spPr>
            <a:solidFill>
              <a:srgbClr val="C4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9 мес.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35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F6F6A"/>
                </a:solidFill>
                <a:latin typeface="Calibri"/>
              </a:rPr>
              <a:t>Доля в объёме корпоративных облигаций,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 г.</c:v>
                </c:pt>
              </c:strCache>
            </c:strRef>
          </c:tx>
          <c:spPr>
            <a:solidFill>
              <a:srgbClr val="8FB3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1-й эшелон</c:v>
                  </c:pt>
                  <c:pt idx="1">
                    <c:v>2-й эшелон</c:v>
                  </c:pt>
                  <c:pt idx="2">
                    <c:v>3-й эшелон</c:v>
                  </c:pt>
                  <c:pt idx="3">
                    <c:v>ВДО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64.5</c:v>
                </c:pt>
                <c:pt idx="1">
                  <c:v>21.8</c:v>
                </c:pt>
                <c:pt idx="2">
                  <c:v>12.8</c:v>
                </c:pt>
                <c:pt idx="3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01.07.2026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1-й эшелон</c:v>
                  </c:pt>
                  <c:pt idx="1">
                    <c:v>2-й эшелон</c:v>
                  </c:pt>
                  <c:pt idx="2">
                    <c:v>3-й эшелон</c:v>
                  </c:pt>
                  <c:pt idx="3">
                    <c:v>ВДО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78.3</c:v>
                </c:pt>
                <c:pt idx="1">
                  <c:v>11.6</c:v>
                </c:pt>
                <c:pt idx="2">
                  <c:v>6.6</c:v>
                </c:pt>
                <c:pt idx="3">
                  <c:v>3.4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Корпоративные размещения с плавающим купоном, % объёма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флоатеров в объёме размещений, %</c:v>
                </c:pt>
              </c:strCache>
            </c:strRef>
          </c:tx>
          <c:spPr>
            <a:solidFill>
              <a:srgbClr val="D4A72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I пол.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48</c:v>
                </c:pt>
                <c:pt idx="2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Флоатеры Минфина (ОФЗ-ПК) в структуре ОФЗ,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ОФЗ-ПК в ОФЗ, %</c:v>
                </c:pt>
              </c:strCache>
            </c:strRef>
          </c:tx>
          <c:spPr>
            <a:solidFill>
              <a:srgbClr val="3D6E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01.10.2024</c:v>
                  </c:pt>
                  <c:pt idx="1">
                    <c:v>01.01.2026</c:v>
                  </c:pt>
                  <c:pt idx="2">
                    <c:v>01.07.2026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38</c:v>
                </c:pt>
                <c:pt idx="2">
                  <c:v>33.3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Облигации на внутреннем рынке по эмитентам, трлн руб. (всего 74,2 на 01.09.2026)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Сектор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12B"/>
              </a:solidFill>
              <a:effectLst/>
            </c:spPr>
          </c:dPt>
          <c:dPt>
            <c:idx val="1"/>
            <c:bubble3D val="0"/>
            <c:spPr>
              <a:solidFill>
                <a:srgbClr val="1F6F5A"/>
              </a:solidFill>
              <a:effectLst/>
            </c:spPr>
          </c:dPt>
          <c:dPt>
            <c:idx val="2"/>
            <c:bubble3D val="0"/>
            <c:spPr>
              <a:solidFill>
                <a:srgbClr val="3D6E8F"/>
              </a:solidFill>
              <a:effectLst/>
            </c:spPr>
          </c:dPt>
          <c:dPt>
            <c:idx val="3"/>
            <c:bubble3D val="0"/>
            <c:spPr>
              <a:solidFill>
                <a:srgbClr val="D4A72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Органы госуправления</c:v>
                </c:pt>
                <c:pt idx="1">
                  <c:v>Нефинансовые организации</c:v>
                </c:pt>
                <c:pt idx="2">
                  <c:v>Другие финансовые организации</c:v>
                </c:pt>
                <c:pt idx="3">
                  <c:v>Банки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36.6</c:v>
                </c:pt>
                <c:pt idx="1">
                  <c:v>18.7</c:v>
                </c:pt>
                <c:pt idx="2">
                  <c:v>15.7</c:v>
                </c:pt>
                <c:pt idx="3">
                  <c:v>3.1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Валютные облигации, трлн руб. в рублёвом эквиваленте, 01.07.2026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трлн руб.</c:v>
                </c:pt>
              </c:strCache>
            </c:strRef>
          </c:tx>
          <c:spPr>
            <a:solidFill>
              <a:srgbClr val="C455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Юани (корп.)</c:v>
                  </c:pt>
                  <c:pt idx="1">
                    <c:v>Доллары (корп.)</c:v>
                  </c:pt>
                  <c:pt idx="2">
                    <c:v>Замещающие корп.</c:v>
                  </c:pt>
                  <c:pt idx="3">
                    <c:v>Замещающие суверенные</c:v>
                  </c:pt>
                  <c:pt idx="4">
                    <c:v>ОФЗ в юанях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1.875</c:v>
                </c:pt>
                <c:pt idx="1">
                  <c:v>1.906</c:v>
                </c:pt>
                <c:pt idx="2">
                  <c:v>1.564</c:v>
                </c:pt>
                <c:pt idx="3">
                  <c:v>1.32</c:v>
                </c:pt>
                <c:pt idx="4">
                  <c:v>0.34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Доля физлиц в объёме торгов облигациями,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физлиц в торгах корпоративными облигациями, %</c:v>
                </c:pt>
              </c:strCache>
            </c:strRef>
          </c:tx>
          <c:spPr>
            <a:solidFill>
              <a:srgbClr val="1F6F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 г.</c:v>
                  </c:pt>
                  <c:pt idx="1">
                    <c:v>I пол. 2026</c:v>
                  </c:pt>
                  <c:pt idx="2">
                    <c:v>август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31.3</c:v>
                </c:pt>
                <c:pt idx="1">
                  <c:v>19</c:v>
                </c:pt>
                <c:pt idx="2">
                  <c:v>15.2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Нетто-покупки на вторичном рынке, июль 2026 г., млрд руб.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Нетто-покупки облигаций, июль 2026 г., млрд руб.</c:v>
                </c:pt>
              </c:strCache>
            </c:strRef>
          </c:tx>
          <c:spPr>
            <a:solidFill>
              <a:srgbClr val="3D6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НФО и фонды</c:v>
                  </c:pt>
                  <c:pt idx="1">
                    <c:v>Системно значимые банки</c:v>
                  </c:pt>
                  <c:pt idx="2">
                    <c:v>Физлица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</c:v>
                </c:pt>
                <c:pt idx="1">
                  <c:v>158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F6F6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F6F6A"/>
                </a:solidFill>
                <a:latin typeface="Calibri"/>
              </a:rPr>
              <a:t>Еврооблигации по странам,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12B"/>
              </a:solidFill>
              <a:effectLst/>
            </c:spPr>
          </c:dPt>
          <c:dPt>
            <c:idx val="1"/>
            <c:bubble3D val="0"/>
            <c:spPr>
              <a:solidFill>
                <a:srgbClr val="1F6F5A"/>
              </a:solidFill>
              <a:effectLst/>
            </c:spPr>
          </c:dPt>
          <c:dPt>
            <c:idx val="2"/>
            <c:bubble3D val="0"/>
            <c:spPr>
              <a:solidFill>
                <a:srgbClr val="3D6E8F"/>
              </a:solidFill>
              <a:effectLst/>
            </c:spPr>
          </c:dPt>
          <c:dPt>
            <c:idx val="3"/>
            <c:bubble3D val="0"/>
            <c:spPr>
              <a:solidFill>
                <a:srgbClr val="D4A72C"/>
              </a:solidFill>
              <a:effectLst/>
            </c:spPr>
          </c:dPt>
          <c:dPt>
            <c:idx val="4"/>
            <c:bubble3D val="0"/>
            <c:spPr>
              <a:solidFill>
                <a:srgbClr val="8FB3A6"/>
              </a:solidFill>
              <a:effectLst/>
            </c:spPr>
          </c:dPt>
          <c:dPt>
            <c:idx val="5"/>
            <c:bubble3D val="0"/>
            <c:spPr>
              <a:solidFill>
                <a:srgbClr val="D5E0DA"/>
              </a:solidFill>
              <a:effectLst/>
            </c:spPr>
          </c:dPt>
          <c:dPt>
            <c:idx val="6"/>
            <c:bubble3D val="0"/>
            <c:spPr>
              <a:solidFill>
                <a:srgbClr val="C455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США</c:v>
                </c:pt>
                <c:pt idx="1">
                  <c:v>ЕС</c:v>
                </c:pt>
                <c:pt idx="2">
                  <c:v>Япония</c:v>
                </c:pt>
                <c:pt idx="3">
                  <c:v>Китай</c:v>
                </c:pt>
                <c:pt idx="4">
                  <c:v>Великобритания</c:v>
                </c:pt>
                <c:pt idx="5">
                  <c:v>Остальные</c:v>
                </c:pt>
                <c:pt idx="6">
                  <c:v>Россия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39.3</c:v>
                </c:pt>
                <c:pt idx="1">
                  <c:v>21.4</c:v>
                </c:pt>
                <c:pt idx="2">
                  <c:v>12.3</c:v>
                </c:pt>
                <c:pt idx="3">
                  <c:v>11.7</c:v>
                </c:pt>
                <c:pt idx="4">
                  <c:v>6</c:v>
                </c:pt>
                <c:pt idx="5">
                  <c:v>8.4</c:v>
                </c:pt>
                <c:pt idx="6">
                  <c:v>0.5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A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А: цена падает, сильнее у длинных бумаг с низким купоном. Б: на сколько процентов изменится цена при изменении доходности на 1 п.п. В: отзывную досрочно гасит эмитент, возвратную досрочно возвращает инвестор. Г: часть купона, накопленная с начала купонного периода; покупатель платит её продавцу.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140/1,16 + 1 140/1,16² = 120,69 + 847,21 = 967,9 руб. 2: D = (1 × 120,69 + 2 × 847,21) / 967,9 = 1,875; MD = 1,617. 3: −1,62 % ≈ −15,6 руб., цена около 952,3; точный расчёт даёт 952,4.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130/920 = 14,13 %; [(80/3) + 130] / 960 = 16,32 % (точная YTM — 16,60 %). 2: 65 × 50/182 = 17,86 руб.; 985 + 17,86 = 1 002,86 руб. 3: ориентировочная учитывает ещё и дисконт 80 руб., который инвестор получит при погашении.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Терминология Берзона: постоянный купон — одна ставка на весь срок; фиксированный — ставки заранее известны, но различаются по периодам; переменный — ставка определяется в ходе обращения. На практике брокеры называют первые два «фикс», а переменный с привязкой к ставке — «флоатер».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18 %/4 = 45; 17 %/4 = 42,5; 16,5 %/4 = 41,25; 16 %/4 = 40; всего 168,75 руб. (16,875 %). 2: фикс 170 руб. — чуть больше. 3: фикс: ставки упали, его 17 % стали выше рынка — цена выросла. Флоатер остался у номинала: его купон сам снизился.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А. Фикс продолжает платить 18 %, когда рынок даёт 15,5 %, и его цена выросла (при MD около 2,3 и падении доходностей на 5–7 п.п. — плюс 10–15 %). Флоатер платил в среднем 17–22 % в 2025 г., но к осени 2026 г. платит 15,5 % и стоит около номинала. Г — верное уточнение: если держать до погашения, разница только в купонах, и фикс всё равно выигрывает при снижении ставок. Флоатер выигрывает в обратной ситуации: если бы ставка выросла. По оценке БКС на IV квартал 2026 г., флоатеры дадут около 14,8 %, индексы фиксов — 19–25 %.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130/1,1 + 110/1,21 + 1 090/1,331 = 118,2 + 90,9 + 818,9 = 1 028,0 руб. 2: если остаться, бумага стоит 1 090/1,10 = 990,9 руб. — меньше 1 000: сдаём по оферте. 3: не ниже 10 %: тогда цена ровно 1 000.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16,99 %. 2: облигация выгоднее на 0,69 п.п. 3: при m = 2: 16,64 % — уже выше вклада; раз в год — 16 % — ниже. Обсудить: вклад застрахован АСВ, облигация — нет; купон облагается НДФЛ полностью, по вкладу есть необлагаемый лимит.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формулы на примере лекции 4: C = 120, r = 15 %, n = 3: 120 × 2,28323 = 273,99; H / 1,15^3 = 657,52; сумма 931,5 руб. — та же цена, что при дисконтировании каждого платежа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459 924 руб. в год, переплата 379 772 руб. 2: проценты 180 000, тело 279 924. 3: 120 × 2,2832 + 1000 / 1,5209 = 274,0 + 657,5 = 931,5 руб.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Б — 952,2 руб., А — 931,5, В — 657,5: чем раньше возвращаются деньги, тем меньше дисконт. 2: В — дюрация 3 года, А — 2,69, Б — 1,84. 3: В — при снижении ставок она вырастет сильнее всего (но и упадёт сильнее при росте).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A: (1 + 0,15/12)^12 − 1 = 16,08 %; B: (1 + 0,155/4)^4 − 1 = 16,42 %: вклад выгоднее на 0,34 п.п. 2: множитель (1 − 1,14^−5)/0,14 = 3,433; 100 × 3,433 + 1 000/1,925 = 343,3 + 519,4 = 862,7 руб. 3: купон равен доходности — цена 1 000 руб., рост на 15,9 %.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Б. Упрощённо: 200 / 800 × 365 / 730 = 12,5 %. Точно: (1 000 / 800)^(1/2) − 1 = 1,25^0,5 − 1 = 11,8 %. Разница — эффект сложного процента: 11,8 % два года подряд дают те же 25 % в сумме. Вариант Г — типичная ошибка: 25 % за два года не равно 25 % годовых.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4,5/95,5 × 365/91 = 18,9 %; (100/95,5)^(365/91) − 1 = 20,3 %. 2: 1,7/95,5 × 365/40 = 16,2 %. 3: за 40 дней цена «подошла» к номиналу медленнее, чем в среднем требуется: покупатель на вторичном рынке потребовал доходность выше 18,9 %.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Проверка: 1 000 руб. / 25,11 = 39,8 $; 39,8 $ × 32,5 = 1 294,3 руб. Девятый купон — это и есть индексация номинала, оформленная как дополнительный купон, чтобы не менять номинал бумаги юридически.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1 000 × 6 % × 1,15 × 182/365 = 34,4 руб. 2: 1 000 × (92/80 − 1) = 150 руб. 3: 1 000 + 150 + 34,4 = 1 184,4 руб.; номинал с индексацией 1 150 руб. = 12,5 $ × 92 — ровно те 12,5 $, что стоили 1 000 руб. при выпуске.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1: 97,25 % — чтобы набрать 3 млн, нужно взять заявки C (1 млн), B (1 млн) и часть A (1 из 2 млн). Цена единая: 97,25 %. Ответ 2: C купит 1 млн по 97,25 %, хотя был готов платить 100 %. Ответ 3: отсечение 99 % даёт 2 млн × 990 = 1,98 млрд руб.; отсечение 97,25 % — 3 млн × 972,5 = 2,9175 млрд руб. Больше денег, но дороже в обслуживании: доходность для инвестора выше.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зеркальная задача: ставка купона играет роль цены, но сортировка обратная — чем ниже ставка, тем лучше для эмитента. Единая ставка отсечения достаётся всем победителям.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D 1 + C 1,5 + B 1,5 = 4 млн — отсечение 12 %, A не получает ничего, все получают купон 12 %. 2: D 1 + C 1,5 + 0,5 из B — отсечение 12 %, B удовлетворён на треть. 3: при 3 млн и отсечении 11,5 % (если бы B не понадобился) экономия 0,5 п.п. × 3 млрд = 15 млн руб. в год; при 4 млн — купон 12 % на 4 млрд = 480 млн руб. в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при пропорциональной аллокации 10/3 = 3,3 млн руб. (3 333 бумаги). 2: 158/1,155 + 1 158/1,155² = 136,8 + 868,1 = 1 004,85 руб. 3: +0,49 % на 3,33 млн = 16 тыс. руб. плюс НКД за день. В 2025 г. так росли 47 % выпусков, а 29 % уходили ниже номинала.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Б. При переподписке организатор снижает купон (скажем, до 15,2 %) и режет заявки пропорционально или по своему усмотрению; типичная аллокация при тройной переподписке — 25–40 %. Если инвестор указал в заявке «не ниже 16 %», она выпадет вовсе. Вариант Г — отчасти правда для крупных институциональных размещений, но на МосБирже розница участвует через брокера наравне с другими, а у некоторых эмитентов есть отдельные «розничные» транши.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6 п.п. 2: 8 % × 70 % = 5,6 п.п. 3: премия 6 &gt; 5,6: едва покрывает, запас 0,4 п.п. При PD 10 %: потеря 7 п.п. &gt; 6 — не покрывает. Плюс ликвидность ВДО хуже, а статистика дефолтов 2026 г. выше исторической.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1,32 п.п.; −4 × 0,5 % = −2 %. 2: 20 × 8 % = 1,6 дефолта; ожидаемая доходность 22 − 5,6 = 16,4 % — как у AAA без риска. 3: один дефолт из 20 — минус 3,5 % портфеля (5 % доли × 70 % потерь): примерно как рост ставок на 1 п.п. при MD 3,5; но дефолты приходят волной, а ставки — обратимы.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Г. Еврооблигации нужны были ради дешёвых долларов (2–4 % против 8–10 % в рублях) и ради доступа к большому пулу инвесторов. После 2022 г. первый мотив закрыт санкциями и Euroclear, второй — заменён внутренним рынком с рекордными размещениями, валютный спрос российских инвесторов обслуживают юаневые (1,9 трлн руб.) и замещающие (1,5 трлн руб.) облигации. Обсудить: может ли этот рынок вернуться и на каких условиях.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(1000−850)/850 × 365/270 = 23,9 %; (1000/850)^(365/270) − 1 = 24,6 %. 2: (14 + 2) % / 4 × 1000 = 40 руб. 3: 1000 × (92/80 − 1) = 150 руб. 4: нужно 5 млн: 2 + 2 + 1 из 3 млн, отсечение 13 %, единая ставка для всех. 5: 3500 / 30 = 116,7 $, +16,7 %. 6: ожидаемая потеря 12 % × 75 % = 9 п.п., премия 8 п.п.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image" Target="../media/image-1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34-1.png"/><Relationship Id="rId3" Type="http://schemas.openxmlformats.org/officeDocument/2006/relationships/image" Target="../media/image-34-2.png"/><Relationship Id="rId4" Type="http://schemas.openxmlformats.org/officeDocument/2006/relationships/image" Target="../media/image-34-3.png"/><Relationship Id="rId5" Type="http://schemas.openxmlformats.org/officeDocument/2006/relationships/image" Target="../media/image-3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3" Type="http://schemas.openxmlformats.org/officeDocument/2006/relationships/chart" Target="/ppt/charts/chart12.xml"/><Relationship Id="rId1" Type="http://schemas.openxmlformats.org/officeDocument/2006/relationships/image" Target="../media/image-70-1.png"/><Relationship Id="rId4" Type="http://schemas.openxmlformats.org/officeDocument/2006/relationships/image" Target="../media/image-70-2.png"/><Relationship Id="rId5" Type="http://schemas.openxmlformats.org/officeDocument/2006/relationships/image" Target="../media/image-7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4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chart" Target="/ppt/charts/chart17.xml"/><Relationship Id="rId1" Type="http://schemas.openxmlformats.org/officeDocument/2006/relationships/image" Target="../media/image-78-1.png"/><Relationship Id="rId5" Type="http://schemas.openxmlformats.org/officeDocument/2006/relationships/image" Target="../media/image-78-2.png"/><Relationship Id="rId6" Type="http://schemas.openxmlformats.org/officeDocument/2006/relationships/image" Target="../media/image-78-3.png"/><Relationship Id="rId7" Type="http://schemas.openxmlformats.org/officeDocument/2006/relationships/image" Target="../media/image-7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8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9.xml"/><Relationship Id="rId1" Type="http://schemas.openxmlformats.org/officeDocument/2006/relationships/image" Target="../media/image-80-1.png"/><Relationship Id="rId3" Type="http://schemas.openxmlformats.org/officeDocument/2006/relationships/image" Target="../media/image-80-2.png"/><Relationship Id="rId4" Type="http://schemas.openxmlformats.org/officeDocument/2006/relationships/image" Target="../media/image-8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0.xml"/><Relationship Id="rId3" Type="http://schemas.openxmlformats.org/officeDocument/2006/relationships/chart" Target="/ppt/charts/chart21.xml"/><Relationship Id="rId1" Type="http://schemas.openxmlformats.org/officeDocument/2006/relationships/image" Target="../media/image-8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2.xml"/><Relationship Id="rId3" Type="http://schemas.openxmlformats.org/officeDocument/2006/relationships/chart" Target="/ppt/charts/chart23.xml"/><Relationship Id="rId1" Type="http://schemas.openxmlformats.org/officeDocument/2006/relationships/image" Target="../media/image-82-1.png"/><Relationship Id="rId4" Type="http://schemas.openxmlformats.org/officeDocument/2006/relationships/image" Target="../media/image-82-2.png"/><Relationship Id="rId5" Type="http://schemas.openxmlformats.org/officeDocument/2006/relationships/image" Target="../media/image-82-3.png"/><Relationship Id="rId6" Type="http://schemas.openxmlformats.org/officeDocument/2006/relationships/image" Target="../media/image-8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4.xml"/><Relationship Id="rId3" Type="http://schemas.openxmlformats.org/officeDocument/2006/relationships/chart" Target="/ppt/charts/chart25.xml"/><Relationship Id="rId1" Type="http://schemas.openxmlformats.org/officeDocument/2006/relationships/image" Target="../media/image-8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6.xml"/><Relationship Id="rId1" Type="http://schemas.openxmlformats.org/officeDocument/2006/relationships/image" Target="../media/image-84-1.png"/><Relationship Id="rId3" Type="http://schemas.openxmlformats.org/officeDocument/2006/relationships/image" Target="../media/image-84-2.png"/><Relationship Id="rId4" Type="http://schemas.openxmlformats.org/officeDocument/2006/relationships/image" Target="../media/image-84-3.png"/><Relationship Id="rId5" Type="http://schemas.openxmlformats.org/officeDocument/2006/relationships/image" Target="../media/image-8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image" Target="../media/image-87-4.png"/><Relationship Id="rId5" Type="http://schemas.openxmlformats.org/officeDocument/2006/relationships/image" Target="../media/image-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image" Target="../media/image-91-5.png"/><Relationship Id="rId6" Type="http://schemas.openxmlformats.org/officeDocument/2006/relationships/image" Target="../media/image-9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280160"/>
            <a:ext cx="5303520" cy="5303520"/>
          </a:xfrm>
          <a:prstGeom prst="ellipse">
            <a:avLst/>
          </a:prstGeom>
          <a:solidFill>
            <a:srgbClr val="1A4A3E"/>
          </a:solidFill>
          <a:ln w="12700">
            <a:solidFill>
              <a:srgbClr val="1A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834640"/>
            <a:ext cx="2926080" cy="2926080"/>
          </a:xfrm>
          <a:prstGeom prst="ellipse">
            <a:avLst/>
          </a:prstGeom>
          <a:solidFill>
            <a:srgbClr val="1F6F5A"/>
          </a:solidFill>
          <a:ln w="12700">
            <a:solidFill>
              <a:srgbClr val="1F6F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35661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МАЙНОР  ·  ЛЕКЦИЯ 5  ·  ТЕМА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облигации: купон, выпуск, размещение и рынок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эмитент назначает купон и зачем нужна оферта, как устроены бескупонные и индексируемые облигации, как проходят аукционы и букбилдинг, как выглядит рынок в 2026 году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4617720"/>
            <a:ext cx="54864" cy="914400"/>
          </a:xfrm>
          <a:prstGeom prst="rect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57200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Лысенок Н.И.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НИУ ВШЭ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лекции использованы материалы Сорокина И. и Берзона Н.И.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4A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743200" cy="2743200"/>
          </a:xfrm>
          <a:prstGeom prst="ellipse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32520" y="10515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  ·  РАЗМИНКА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 запомнили с прошлой лекции?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идеи лекции 4, без которых сегодня не обойтись. По одному ответу от разных людей.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выросли на 1 п.п. Что с ценой облигации?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модифицированная дюрация?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отличается отзывная облигация от возвратной?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8844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НКД и кто его платит?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следующем слайде.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ВСПОМИНАЕМ ЛЕКЦИЮ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разминку и что из этого нужно сегодня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19394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82880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Ставки и цена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2316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выросли — цена упала: старую облигацию с низким купоном берут только с дисконтом. Длинные бумаги падают сильнее.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108960"/>
            <a:ext cx="4860036" cy="13716"/>
          </a:xfrm>
          <a:prstGeom prst="rect">
            <a:avLst/>
          </a:prstGeom>
          <a:solidFill>
            <a:srgbClr val="C6D6CC"/>
          </a:solidFill>
          <a:ln w="12700">
            <a:solidFill>
              <a:srgbClr val="C6D6C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315468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плавающий купон — способ не падать при росте ставок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1636" y="15544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05956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193944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91756" y="182880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Б. Модифицированная дюрация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505956" y="242316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/ P ≈ −MD × Δr. При MD = 4 и росте доходности на 0,5 п.п. цена теряет около 2 %.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505956" y="3108960"/>
            <a:ext cx="4860036" cy="13716"/>
          </a:xfrm>
          <a:prstGeom prst="rect">
            <a:avLst/>
          </a:prstGeom>
          <a:solidFill>
            <a:srgbClr val="C6D6CC"/>
          </a:solidFill>
          <a:ln w="12700">
            <a:solidFill>
              <a:srgbClr val="C6D6C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505956" y="315468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индексируемые и бескупонные бумаги — крайние случаи дюрации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4297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" y="440832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2976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В. Отзывная и возвратная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89204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Отзывную гасит досрочно эмитент (страхуется от падения ставок), возвратную возвращает инвестор (страхуется от роста).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22960" y="5577840"/>
            <a:ext cx="4860036" cy="13716"/>
          </a:xfrm>
          <a:prstGeom prst="rect">
            <a:avLst/>
          </a:prstGeom>
          <a:solidFill>
            <a:srgbClr val="C6D6CC"/>
          </a:solidFill>
          <a:ln w="12700">
            <a:solidFill>
              <a:srgbClr val="C6D6CC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562356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оферта на российском рынке — это возвратная облигация в действии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231636" y="402336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05956" y="4297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598" y="4408322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91756" y="42976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НКД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6505956" y="4892040"/>
            <a:ext cx="4860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купона с начала периода. Покупатель платит её продавцу сверх чистой цены, а потом получает весь купон от эмитента.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505956" y="5577840"/>
            <a:ext cx="4860036" cy="13716"/>
          </a:xfrm>
          <a:prstGeom prst="rect">
            <a:avLst/>
          </a:prstGeom>
          <a:solidFill>
            <a:srgbClr val="C6D6CC"/>
          </a:solidFill>
          <a:ln w="12700">
            <a:solidFill>
              <a:srgbClr val="C6D6CC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505956" y="562356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на аукционе и в букбилдинге бумага продаётся без НКД — по чистой цене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лекции за одну минуту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52878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20" y="186629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33172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97180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Свойства, цена, доходность, дюрация, рейтинг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67278" y="155448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95878" y="178308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9587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271516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158" y="1866290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595878" y="233172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595878" y="297180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Постоянный, фиксированный, переменный. Флоатеры 2026 г. Оферта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85916" y="155448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14516" y="178308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145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090154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796" y="1866290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14516" y="233172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 и аннуитет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414516" y="297180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сравнивать купоны и считать потоки: кредит, амортизация, бессрочная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004554" y="155448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233154" y="178308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23315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0908792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9434" y="1866290"/>
            <a:ext cx="281635" cy="28163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233154" y="233172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купона и с индексацией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233154" y="297180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Бескупонные, Газпром 1999 г., ГКО, ОФЗ-ИН и замещающие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48640" y="397764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2452878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3520" y="4289450"/>
            <a:ext cx="281635" cy="28163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77240" y="475488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777240" y="539496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цене, по купону, букбилдинг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3367278" y="397764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595878" y="420624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359587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5271516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2158" y="4289450"/>
            <a:ext cx="281635" cy="28163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3595878" y="475488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и статистика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3595878" y="539496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трлн руб.: структура, эшелоны, дефолты, ставка, кривая ОФЗ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185916" y="397764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6414516" y="420624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641451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3" name="Shape 44"/>
          <p:cNvSpPr/>
          <p:nvPr/>
        </p:nvSpPr>
        <p:spPr>
          <a:xfrm>
            <a:off x="8090154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0796" y="4289450"/>
            <a:ext cx="281635" cy="281635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6414516" y="475488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по ходу</a:t>
            </a:r>
            <a:endParaRPr lang="en-US" sz="1400" dirty="0"/>
          </a:p>
        </p:txBody>
      </p:sp>
      <p:sp>
        <p:nvSpPr>
          <p:cNvPr id="56" name="Text 46"/>
          <p:cNvSpPr txBox="1"/>
          <p:nvPr/>
        </p:nvSpPr>
        <p:spPr>
          <a:xfrm>
            <a:off x="6414516" y="539496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каждой формулы — задача и разбор: 9 задач за лекцию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9004554" y="3977640"/>
            <a:ext cx="2635758" cy="2240280"/>
          </a:xfrm>
          <a:prstGeom prst="roundRect">
            <a:avLst>
              <a:gd name="adj" fmla="val 408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9233154" y="4206240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9233154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0" name="Shape 50"/>
          <p:cNvSpPr/>
          <p:nvPr/>
        </p:nvSpPr>
        <p:spPr>
          <a:xfrm>
            <a:off x="10908792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9434" y="4289450"/>
            <a:ext cx="281635" cy="281635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9233154" y="4754880"/>
            <a:ext cx="21785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400" dirty="0"/>
          </a:p>
        </p:txBody>
      </p:sp>
      <p:sp>
        <p:nvSpPr>
          <p:cNvPr id="63" name="Text 52"/>
          <p:cNvSpPr txBox="1"/>
          <p:nvPr/>
        </p:nvSpPr>
        <p:spPr>
          <a:xfrm>
            <a:off x="9233154" y="539496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чисел, формулы, глоссарий, задачи к семинару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6677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 ·  О ЧЁМ БУДЕМ ГОВОРИТЬ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уже знаем об облигации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ЛОГИКЕ ЛЕКЦИИ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 из лекции 4. Дальше — то, чего в ней не было: как облигация появляется на свет.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ответы на вопросы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17904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71600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четыре свойства отличают облигацию от акции?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39696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2860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139696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цена, доходность и дюрация связаны между собой?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2907792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305409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907792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кредитный рейтинг и как выглядит рынок по рейтингам в 2026 г.?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3858768"/>
            <a:ext cx="6885432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087368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532120" y="4059936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0" y="4544568"/>
            <a:ext cx="633679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4 дала формулы, лекция 5 показывает, как ими пользуются эмитенты и инвесторы на практике: при выборе купона, на аукционе и при чтении рыночной статистики. Повтор занимает три слайда, чтобы все говорили на одном языке.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ПОВТОР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Облигация: определение, четыре свойства и главные виды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55448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— </a:t>
            </a:r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долговая ценная бумага, отражающая отношения займа между инвестором (кредитором) и эмитентом (заёмщиком).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2601468" cy="2103120"/>
          </a:xfrm>
          <a:prstGeom prst="roundRect">
            <a:avLst>
              <a:gd name="adj" fmla="val 434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523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606040"/>
            <a:ext cx="1641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Конечный срок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46120"/>
            <a:ext cx="21442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истечении срока облигация гасится по номиналу. Исключение — бессрочные облигации для квалифицированных инвесторов.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78708" y="2468880"/>
            <a:ext cx="2601468" cy="2103120"/>
          </a:xfrm>
          <a:prstGeom prst="roundRect">
            <a:avLst>
              <a:gd name="adj" fmla="val 434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07308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27523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155948" y="2606040"/>
            <a:ext cx="1641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Проценты обязательны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607308" y="3246120"/>
            <a:ext cx="21442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Выплата купона — обязанность эмитента, а не решение собрания акционеров, как дивиденд.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08776" y="2468880"/>
            <a:ext cx="2601468" cy="2103120"/>
          </a:xfrm>
          <a:prstGeom prst="roundRect">
            <a:avLst>
              <a:gd name="adj" fmla="val 434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37376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7523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86016" y="2606040"/>
            <a:ext cx="1641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при ликвидации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3246120"/>
            <a:ext cx="21442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владельцев облигаций удовлетворяются раньше требований акционеров.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038844" y="2468880"/>
            <a:ext cx="2601468" cy="2103120"/>
          </a:xfrm>
          <a:prstGeom prst="roundRect">
            <a:avLst>
              <a:gd name="adj" fmla="val 434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267444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028" y="275234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816084" y="2606040"/>
            <a:ext cx="1641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Старшая бумага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9267444" y="3246120"/>
            <a:ext cx="21442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надёжнее акции того же эмитента: доход и возврат долга обещаны заранее.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583680"/>
                <a:gridCol w="23134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важно сегодня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 выплаты дохода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бескупонные (дисконтные); купонные: постоянный, фиксированный, переменный купон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разделы 2 и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Досрочное погашение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безотзывные (единовременно или с амортизацией); погашаемые досрочно: отзывные, возвратные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оферта — раздел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Обеспечение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необеспеченные; обеспеченные: залог имущества, ценных бумаг, ипотечные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эшелоны и дефолты — раздел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ПОВТОР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Цена, доходность и дюрация: три формулы, которые понадобятся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45920"/>
            <a:ext cx="30876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Σ C /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H /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06624"/>
            <a:ext cx="3087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— будущие платежи, пересчитанные на сегодня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55448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0664" y="1645920"/>
            <a:ext cx="30876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</a:t>
            </a:r>
            <a:pPr algn="ctr"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[(H − P) / n + C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</a:t>
            </a:r>
            <a:pPr algn="ctr"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[(H + P) / 2]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50664" y="2706624"/>
            <a:ext cx="3087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ориентировочная доходность к погашению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5488" y="155448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4088" y="1645920"/>
            <a:ext cx="30876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/ P ≈ −MD × Δr,   MD = D / (1 + r)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324088" y="2706624"/>
            <a:ext cx="3087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модифицированная дюрация — чувствительность цены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611880"/>
            <a:ext cx="3514344" cy="2560320"/>
          </a:xfrm>
          <a:prstGeom prst="roundRect">
            <a:avLst>
              <a:gd name="adj" fmla="val 357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8953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71600" y="37490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лекции 4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389120"/>
            <a:ext cx="3057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года, номинал 1 000 руб., купон 12 %, требуемая доходность 15 %: цена 931,5 руб. При полугодовом купоне — 941,4 руб. Купон 12 % меньше требуемых 15 %, поэтому дисконт.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337304" y="3611880"/>
            <a:ext cx="3514344" cy="2560320"/>
          </a:xfrm>
          <a:prstGeom prst="roundRect">
            <a:avLst>
              <a:gd name="adj" fmla="val 3571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65904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389534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60264" y="37490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доходности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4565904" y="4389120"/>
            <a:ext cx="3057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Купонная 12 %, текущая 12,9 %, ориентировочная к погашению около 15 %, доходность сделки — если продать раньше. В терминале показывают доходность к погашению.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125968" y="3611880"/>
            <a:ext cx="3514344" cy="2560320"/>
          </a:xfrm>
          <a:prstGeom prst="roundRect">
            <a:avLst>
              <a:gd name="adj" fmla="val 357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354568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38953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948928" y="37490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Дюрация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8354568" y="4389120"/>
            <a:ext cx="3057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3-летняя бумага с купоном 8 % при ставке 10 %: D = 2,78 года, MD = 2,53. Рост доходности на 1 п.п. — минус 2,5 % цены. Чем длиннее срок и ниже купон, тем чувствительнее.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применяем три формулы сразу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на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года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номинал 1 000 руб.,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 в год. Рынок требует доходность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цена облигации?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Чему равны дюрация Маколея и модифицированная дюрация?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сколько упадёт цена, если доходность вырастет до 17 %?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Σ C /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H /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  MD = D / (1 + r);   ΔP / P ≈ −MD × Δr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цена 967,9 руб., MD = 1,62, падение 1,6 %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602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/ 1,16 + 1 140 / 1,16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120,69 + 847,21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967,90 руб.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6746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674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Дюрация Маколея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4688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× 120,69 + 2 × 847,21) / 967,90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1,875 года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5890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589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Модифицированная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832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1,875 / 1,16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1,617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5034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503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297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выросла до 17 %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42976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/ P ≈ −1,617 × 1 % = −1,62 %;  точно: 140 / 1,17 + 1 140 / 1,17</a:t>
            </a:r>
            <a:pPr indent="0" marL="0">
              <a:buNone/>
            </a:pPr>
            <a:r>
              <a:rPr lang="en-US" sz="14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952,44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−15,5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торгуется с дисконтом, потому что купон 14 % ниже требуемых 16 %. Дюрация 1,9 года при сроке 2 года: купон «вытягивает» часть денег раньше. Оценка через MD разошлась с точным расчётом на 0,1 руб. — для коротких бумаг приближение работает отлично.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четыре доходности одной облигации и НКД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Облигация: номинал 1 000 руб.,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 в год, до погашения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года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чистая цена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 руб.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Вторая бумага того же эмитента платит купон 65 руб. раз в полгода (182 дня); с начала купонного периода прошло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дней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чистая цена 98,5 %.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и ориентировочная доходность первой облигации?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НКД и грязная цена у второй?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ориентировочная доходность выше текущей?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</a:t>
            </a:r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C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</a:t>
            </a:r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P;   r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</a:t>
            </a:r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[(H − P) / n + C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</a:t>
            </a:r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[(H + P) / 2];   НКД = C × t / 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14,1 %, 16,3 % и грязная цена 1 002,86 руб.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доходность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/ 920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14,13 %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Ориентировочная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[(1 000 − 920) / 3 + 130] / [(1 000 + 920) / 2] = 156,67 / 960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16,32 %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YTM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подбор r: 130/(1+r) + 130/(1+r)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+ 1 130/(1+r)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920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16,60 %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НКД второй бумаги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× 50 / 182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17,86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Грязная цена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985 + 17,86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1 002,86 руб.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доходность видит только купон, ориентировочная добавляет дисконт, размазанный по сроку, точная учитывает ещё и реинвестирование. В терминале брокера показывают точную YTM; покупатель платит грязную цену, а на экране видит чистую — отсюда «сюрприз» в выписке.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ПОВТОР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рейтинг и российский рынок по качеству, 2026 г.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Шкала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Вероятность дефолта за 10 лет (S&amp;P, 1981–2013)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AAA, AA, A, BBB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инвестиционный уровень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 / 0,8 / 1,6 / 4,3 %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BB, B, CCC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спекулятивный уровень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 / 26,9 / 51,4 %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ruAAA … ruD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национальная шкала (АКРА, Эксперт РА, НКР, НРА)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надёжность относительно других российских заёмщиков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7315200" y="1371600"/>
          <a:ext cx="432511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2976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77240" y="4480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5811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4348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надёжный по объёму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777240" y="50749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 корпоративного рынка — эмитенты AAA и AA, в первичных размещениях 2025 г. их доля 88 %. Высокодоходные облигации (ВДО) — всего 3,4 % объёма, но 612 выпусков.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337304" y="42976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565904" y="4480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488" y="45811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60264" y="44348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не по числу эмитентов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4565904" y="50749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г.: 36 эмитентов допустили дефолт (28 впервые), 55 млрд руб. обязательств, 45 % проблемных бумаг — у физлиц. 2026 г.: прогноз 40–50 эмитентов, максимум с 2010 г.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125968" y="4297680"/>
            <a:ext cx="3514344" cy="1874520"/>
          </a:xfrm>
          <a:prstGeom prst="roundRect">
            <a:avLst>
              <a:gd name="adj" fmla="val 487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354568" y="4480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152" y="458114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48928" y="44348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8354568" y="507492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при 78 % рынка у AAA дефолтов всё равно десятки в год? Ответ: дефолты сосредоточены в 3,4 % ВДО, где выпусков больше, чем во всём 1-м эшелоне.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S&amp;P; БК «Регион», обзор рынка за I полугодие 2026 г.; Банк России, обзор финансовых инструментов за 2025 г.; Эксперт РА; Известия, 06.10.2026.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 ·  СУТЬ В ТРЁХ ПУНКТАХ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Повтор: главное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40024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5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— обещанный долг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Срок, обязательный купон, приоритет перед акционерами. Виды — по купону, досрочному погашению и обеспечению.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7304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11624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7028688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89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1624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и ставка — качели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1624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сумма дисконтированных платежей; ΔP / P ≈ −MD × Δr. Пример: 931,5 руб. при купоне 12 % и доходности 15 %.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0028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817352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053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00288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— цена риска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0288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 рынка — AAA и AA, но в 2026 г. до 50 эмитентов могут уйти в дефолт: почти все — из 3,4 % ВДО.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63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937760"/>
            <a:ext cx="9902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</a:t>
            </a:r>
            <a:pPr indent="0" marL="0">
              <a:buNone/>
            </a:pPr>
            <a:r>
              <a:rPr lang="en-US" sz="13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смотрим, как эмитент выбирает купон и зачем придумали оферту.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6677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 ·  О ЧЁМ БУДЕМ ГОВОРИТЬ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Купон: постоянный, фиксированный, переменный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ЛОГИКЕ ЛЕКЦИИ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формул к решениям эмитента: первое решение — какой купон обещать.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ответы на вопросы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17904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71600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постоянный купон отличается от фиксированного и переменного?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39696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2860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139696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эмитент сообщает инвесторам ставку переменного купона и что такое оферта?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2907792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305409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907792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2026 г. треть корпоративного рынка — облигации с плавающим купоном?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3675888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3822192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675888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выгоден флоатер, когда ключевая ставка снижается с 21 % до 14 %?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754880" y="4626864"/>
            <a:ext cx="6885432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855464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532120" y="4828032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029200" y="5312664"/>
            <a:ext cx="63367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— главный параметр, который эмитент выбирает при выпуске. От его конструкции зависит, кто несёт процентный риск: инвестор или компания. На рынке 2024–2026 гг. этот выбор стоил эмитентам сотни миллиардов рублей.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КУПОН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назначить купон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544824" cy="4617720"/>
          </a:xfrm>
          <a:prstGeom prst="roundRect">
            <a:avLst>
              <a:gd name="adj" fmla="val 258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9164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купон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" y="2148840"/>
          <a:ext cx="3270504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77240" y="4297680"/>
            <a:ext cx="3087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одна на весь срок: например, 10 % каждый год. Инвестор знает все платежи заранее. Классическая облигация с фиксированным доходом.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22064" y="1554480"/>
            <a:ext cx="3544824" cy="4617720"/>
          </a:xfrm>
          <a:prstGeom prst="roundRect">
            <a:avLst>
              <a:gd name="adj" fmla="val 258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50664" y="169164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 купон</a:t>
            </a:r>
            <a:endParaRPr lang="en-US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459224" y="2148840"/>
          <a:ext cx="3270504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4550664" y="4297680"/>
            <a:ext cx="3087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известны заранее, но разные по периодам: 13 % в первые два года, 11 % в следующие два, 9 % в последние. График зафиксирован в решении о выпуске.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95488" y="1554480"/>
            <a:ext cx="3544824" cy="4617720"/>
          </a:xfrm>
          <a:prstGeom prst="roundRect">
            <a:avLst>
              <a:gd name="adj" fmla="val 258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324088" y="169164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Переменный купон</a:t>
            </a:r>
            <a:endParaRPr lang="en-US" sz="150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8232648" y="2148840"/>
          <a:ext cx="3270504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8324088" y="4297680"/>
            <a:ext cx="3087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не известна заранее: привязана к ключевой ставке, инфляции, курсу или назначается советом директоров перед каждым периодом.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КУПОН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купон: денежный поток инвестора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155448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0100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61" y="1833921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95360" y="169164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инвестор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001000" y="2267712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купонов по 100 руб. и в конце — номинал 1 000 руб. Всего 1 500 руб. на 1 000 вложенных, если купил по номиналу.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772400" y="315468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01000" y="33375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61" y="3434121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0" y="329184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риск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3867912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платежи зафиксированы в рублях. Если ставки на рынке вырастут до 15 %, облигация с купоном 10 % подешевеет: процентный риск целиком на инвесторе.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772400" y="475488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001000" y="4937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561" y="5034321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595360" y="489204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5468112"/>
            <a:ext cx="3410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при постоянном купоне выгоден рост ставок — эмитенту или инвестору? Эмитенту: он занял дёшево и платит ниже рынка.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КУПОН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Переменный купон: как инвестора информируют о ставке и к чему её привязывают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1554480"/>
            <a:ext cx="5696712" cy="1325880"/>
          </a:xfrm>
          <a:prstGeom prst="roundRect">
            <a:avLst>
              <a:gd name="adj" fmla="val 68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7220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61" y="1833921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66560" y="169164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Информирование инвесторов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172200" y="226771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варианта: ставка объявляется до начала купонного периода (инвестор знает, что получит) или определяется при наступлении даты выплаты по формуле (инвестор знает формулу, но не число).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943600" y="3063240"/>
            <a:ext cx="5696712" cy="1325880"/>
          </a:xfrm>
          <a:prstGeom prst="roundRect">
            <a:avLst>
              <a:gd name="adj" fmla="val 689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3246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761" y="3342681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320040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установления купона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3776472"/>
            <a:ext cx="5239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зависимости от темпа инфляции (ОФЗ-ИН индексируют номинал); в привязке к рыночной ставке — раньше LIBOR, теперь ключевая ставка Банка России или RUONIA; по решению совета директоров перед каждым периодом.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61772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68680" y="461772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пальцах: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переменный купон перекладывает процентный риск с инвестора на эмитента. Выросли ставки — вырос купон, цена облигации почти не меняется. Упали ставки — упал и купон: инвестор не получит «подарка» в виде роста цены, как у бумаги с постоянным купоном.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КУПОН ·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Флоатеры: треть корпоративного рынка привязана к ключевой ставке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760720" y="1554480"/>
            <a:ext cx="2926080" cy="1426464"/>
          </a:xfrm>
          <a:prstGeom prst="roundRect">
            <a:avLst>
              <a:gd name="adj" fmla="val 6410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35040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11,65 трлн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2331720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— 733 выпуска флоатеров на 01.07.2026: 7,4 трлн привязаны к ключевой ставке, 2,7 трлн — к RUONIA, 0,4 трлн — к инфляции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60720" y="3145536"/>
            <a:ext cx="2926080" cy="1426464"/>
          </a:xfrm>
          <a:prstGeom prst="roundRect">
            <a:avLst>
              <a:gd name="adj" fmla="val 641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35040" y="323697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58 %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3922776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объёма размещений I полугодия 2026 г. — с плавающей ставкой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869680" y="1554480"/>
            <a:ext cx="2770632" cy="1426464"/>
          </a:xfrm>
          <a:prstGeom prst="roundRect">
            <a:avLst>
              <a:gd name="adj" fmla="val 641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44000" y="16459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 + 1,5 п.п.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0" y="2331720"/>
            <a:ext cx="2221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«Газпром капитал», август 2026 г.: 60 млрд руб. на 3,5 года, книга собрана за 40 минут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869680" y="3145536"/>
            <a:ext cx="2770632" cy="1426464"/>
          </a:xfrm>
          <a:prstGeom prst="roundRect">
            <a:avLst>
              <a:gd name="adj" fmla="val 6410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44000" y="3236976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33 %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0" y="3922776"/>
            <a:ext cx="2221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ОФЗ — тоже флоатеры (ОФЗ-ПК); Минфин сокращает их долю с 38 % в 2024 г.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48006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68680" y="480060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эмитенты выбирали флоатеры в 2024–2025 гг.: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ключевой ставке 21 % никто не хотел фиксировать 22–24 % на 3–5 лет. Флоатер «КС + спред» обещает: ставка снизится — снизится и купон. Инвесторы тоже брали: защита от дальнейшего роста ставки. В 2026 г., когда ЦБ замедлил снижение до шага 0,25 п.п. и взял паузу в сентябре, спрос на флоатеры вернулся.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БК «Регион», обзоры за 2025 г. и I полугодие 2026 г.; МосБиржа, дайджест первичных рынков за I полугодие 2026 г.; Ведомости, 25.08.2026.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сколько заплатил флоатер за год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с номиналом 1 000 руб. и купоном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«ключевая ставка + 2 п.п.»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купон платится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квартал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ставке, действовавшей в начале квартала. Ключевая ставка в начале кварталов: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16 %, 15 %, 14,5 %, 14 %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Альтернатива — облигация того же эмитента с постоянным купоном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выплатой раз в квартал.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Посчитайте четыре купона флоатера и сумму за год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бумага заплатила больше купонами?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какой бумаги выросла цена и почему?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купон за квартал = (КС + спред) / 4 × H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флоатер — 168,75 руб., фикс — 170 руб. плюс рост цены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1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(16 % + 2 %) / 4 × 1 000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 руб.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(15 % + 2 %) / 4 × 1 000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42,50 руб.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3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(14,5 % + 2 %) / 4 × 1 000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41,25 руб.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4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(14 % + 2 %) / 4 × 1 000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за год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флоатер 168,75 руб. (16,9 %) против фикса 4 × 42,5 = 170 руб. (17 %)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 +1,25 руб.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Купонами разница почти нулевая, но фикс ещё и подорожал: при падении рыночных ставок до 15,5 % его купон 17 % стал премиальным. Флоатер цену не меняет: он «ходит» вместе со ставкой. Выбор фикс или флоатер — это ставка на направление ключевой ставки.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4A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743200" cy="2743200"/>
          </a:xfrm>
          <a:prstGeom prst="ellipse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32520" y="10515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  ·  КУПОН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ставка снизилась с 21 % до 14 % за год. Какая облигация принесла инвестору больше?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куплены в июне 2025 г. по номиналу на 3 года, у обоих эмитентов рейтинг AAA. Подумайте и про купон, и про цену.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Фикс: купон 18 % на весь срок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Флоатер: ключевая ставка + 1,5 п.п.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Одинаково: рынок всё уравнивает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8844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того, продаёт ли инвестор бумагу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Поднимите руку / напишите в чат. 2–3 минуты на обсуждение.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КУПОН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Переменный купон по решению совета директоров и оферта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7315200" cy="3108960"/>
          </a:xfrm>
          <a:prstGeom prst="roundRect">
            <a:avLst>
              <a:gd name="adj" fmla="val 2941"/>
            </a:avLst>
          </a:prstGeom>
          <a:solidFill>
            <a:srgbClr val="F3F8F5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4114800"/>
            <a:ext cx="6400800" cy="0"/>
          </a:xfrm>
          <a:prstGeom prst="line">
            <a:avLst/>
          </a:prstGeom>
          <a:noFill/>
          <a:ln w="19050">
            <a:solidFill>
              <a:srgbClr val="1231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2688336"/>
            <a:ext cx="3200400" cy="1426464"/>
          </a:xfrm>
          <a:prstGeom prst="rect">
            <a:avLst/>
          </a:prstGeom>
          <a:solidFill>
            <a:srgbClr val="1F6F5A"/>
          </a:solidFill>
          <a:ln w="12700">
            <a:solidFill>
              <a:srgbClr val="1F6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688336"/>
            <a:ext cx="3200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1-й купон: 11 %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3127248"/>
            <a:ext cx="2880360" cy="987552"/>
          </a:xfrm>
          <a:prstGeom prst="rect">
            <a:avLst/>
          </a:prstGeom>
          <a:solidFill>
            <a:srgbClr val="3D6E8F"/>
          </a:solidFill>
          <a:ln w="12700">
            <a:solidFill>
              <a:srgbClr val="3D6E8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0" y="3127248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2-й купон: 8 %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721608" y="2139696"/>
            <a:ext cx="0" cy="1975104"/>
          </a:xfrm>
          <a:prstGeom prst="line">
            <a:avLst/>
          </a:prstGeom>
          <a:noFill/>
          <a:ln w="25400">
            <a:solidFill>
              <a:srgbClr val="C4553D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91440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tᵢ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20–30 дней до t₁ эмитент объявляет ставку 2-го купона и дату оферты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38160" y="155448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6676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321" y="183392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61120" y="169164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366760" y="226771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— старт 1-го периода, ставка известна. t₁ — выплата 1-го купона. В tᵢ, за 20–30 дней до t₁, эмитент объявляет ставку 2-го купона и право погасить бумаги в t₁ — оферту.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138160" y="32004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66760" y="338328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321" y="3479841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961120" y="333756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Оферта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8366760" y="391363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ставка не устраивает (8 % вместо 11 %) — инвестор сдаёт бумагу по номиналу. Устраивает — остаётся. Защита инвестора и экономия эмитента при падении ставок.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68680" y="4846320"/>
            <a:ext cx="10451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практике: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оферта — самый частый «досрочный выход» на российском рынке. В приложении брокера она отмечена как put-оферта с датой; чтобы ею воспользоваться, нужно подать поручение заранее. Пропустили дату — остались с новым купоном до следующей оферты.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КУПОН · ПРИМЕР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Облигации «ДЗ-Финанс», 2006 г.: переменный купон и оферта через год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 займа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Эмитент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ДЗ-Финанс (SPV)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Поручитель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ОАО «Усть-Илимский ДЗ»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 эмиссии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млн руб.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размещения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26.05.2006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обращения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 дней (2 года)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 размещения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аукцион по ставке купона на ММВБ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Купонный период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месяцев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Ставка купона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1-й и 2-й купоны — 11,6 %; 3-й и 4-й определяет эмитент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Обязательство эмитента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выкупает облигации через 1 год по цене 100 % от номинала (оферта)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1554480"/>
            <a:ext cx="405079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81812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81" y="1833921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12480" y="16916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SPV и поручитель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818120" y="2267712"/>
            <a:ext cx="35935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Выпускает «ДЗ-Финанс» — техническая компания, а отвечает по долгу поручитель, сам завод. Так в 2000-е обходили требования к эмитенту; сегодня крупные компании выпускают через «дочек» вроде «Газпром капитал».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589520" y="3154680"/>
            <a:ext cx="4050792" cy="1417320"/>
          </a:xfrm>
          <a:prstGeom prst="roundRect">
            <a:avLst>
              <a:gd name="adj" fmla="val 645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18120" y="33375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81" y="3434121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32918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 купон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818120" y="3867912"/>
            <a:ext cx="35935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 знает ставку только на первый год: 11,6 %. Что будет дальше — решит эмитент за 20–30 дней до оферты. Не нравится — сдать по 100 %. По сути это годовая облигация с правом продления.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589520" y="4754880"/>
            <a:ext cx="405079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18120" y="4937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681" y="5034321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412480" y="48920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818120" y="5468112"/>
            <a:ext cx="35935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ставку 3-го купона назначит эмитент, если рыночные ставки упали до 9 %? Чуть выше рынка, чтобы бумагу не сдали всю по оферте, но ниже 11,6 %.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фиксированный купон по графику и решение на оферте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на 3 года, номинал 1 000 руб., купон по графику: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13 %, 11 %, 9 %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Рыночная доходность —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Вторая бумага: купон первого года 11,6 %, на оферте через год эмитент объявил ставку второго купона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рыночной доходности 10 % и погашении ещё через год.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цена первой облигации?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Сдавать ли вторую по оферте за 100 % или держать?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ставку должен был объявить эмитент, чтобы инвестор остался?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Σ C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(1 + r)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H / (1 + r)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1 028 руб. и «сдать по оферте»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по графику купонов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/ 1,10 + 110 / 1,10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+ 1 090 / 1,10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118,2 + 90,9 + 818,9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1 028,0 руб.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выше номинала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купон 11 % выше требуемых 10 %: премия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+2,8 %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остаться после оферты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1 090 / 1,10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990,9 руб.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990,9 &lt; 1 000: предъявить к выкупу и купить на рынке бумагу под 10 %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сдать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для эмитента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ставка второго купона не ниже рыночных 10 %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10 %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Эмитент, назначив 9 %, фактически попросил инвесторов уйти: так компании досрочно гасят долг, когда деньги больше не нужны. Если же эмитент хочет оставить заём, он ставит купон чуть выше рынка — иначе получит предъявление всего выпуска и должен найти 100 % номинала за один день.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 ·  СУТЬ В ТРЁХ ПУНКТАХ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Купон: главное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40024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5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конструкции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— одна ставка; фиксированный — известный график ставок; переменный — привязка к ключевой ставке, инфляции, курсу или решение совета директоров.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7304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11624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7028688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89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1624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Флоатеры — треть рынка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1624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32,6 % корпоративных облигаций на 01.07.2026 — с плавающим купоном. Они защищают от роста ставок, но при снижении ставки проигрывают фиксу.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0028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817352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053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00288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Оферта — защита инвестора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0288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меняет купон — инвестор вправе сдать бумагу по номиналу. За 20–30 дней до оферты объявляют новую ставку; пропустить дату — остаться с ней.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63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937760"/>
            <a:ext cx="9902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</a:t>
            </a:r>
            <a:pPr indent="0" marL="0">
              <a:buNone/>
            </a:pPr>
            <a:r>
              <a:rPr lang="en-US" sz="13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учимся сравнивать купоны между собой и с вкладом: эффективная ставка и аннуитет.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6677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 ·  О ЧЁМ БУДЕМ ГОВОРИТЬ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 и аннуитет: как сравнивать и как считать потоки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ЛОГИКЕ ЛЕКЦИИ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назначен. Теперь учимся сравнивать разные купоны между собой и с вкладом.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ответы на вопросы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17904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71600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купон 16 % раз в полгода — это не 16 % годовых?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39696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2860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139696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аннуитет и как он связан с ценой облигации?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2907792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305409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907792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считать амортизируемую облигацию и бессрочную облигацию?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3675888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3822192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675888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 одной формуле считать и кредит, и облигацию?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754880" y="4626864"/>
            <a:ext cx="6885432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855464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532120" y="4828032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029200" y="5312664"/>
            <a:ext cx="63367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 — единственный честный способ сравнить вклад «16,3 % в конце срока» с облигацией «16 % двумя купонами». Аннуитет — та же математика, что в ипотеке: цена облигации — это аннуитет купонов плюс дисконтированный номинал.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ЭФФЕКТИВНАЯ СТАВКА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ставка: сколько на самом деле платит облигация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6583680" cy="2011680"/>
          </a:xfrm>
          <a:prstGeom prst="roundRect">
            <a:avLst>
              <a:gd name="adj" fmla="val 454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45920"/>
            <a:ext cx="612648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(1 + r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m)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12694"/>
            <a:ext cx="61264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r_н — номинальная годовая ставка (купон), m — число выплат в году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Купон 16 % годовых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Эффективная ставка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 в год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 в полгода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16,64 %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 в квартал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16,99 %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17,23 %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406640" y="1554480"/>
            <a:ext cx="423367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3524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801" y="1833921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0" y="169164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635240" y="2267712"/>
            <a:ext cx="3776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Полученный в июне купон можно реинвестировать на полгода: проценты на проценты. Чем чаще выплаты, тем выше эффективная ставка при той же номинальной. Это та же капитализация, что у вклада.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06640" y="3154680"/>
            <a:ext cx="4233672" cy="1417320"/>
          </a:xfrm>
          <a:prstGeom prst="roundRect">
            <a:avLst>
              <a:gd name="adj" fmla="val 645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635240" y="33375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801" y="3434121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29184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сравнивать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635240" y="3867912"/>
            <a:ext cx="3776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«16 % двумя купонами» (16,64 %) против вклада «16,3 % в конце срока» (16,3 %): облигация выгоднее, хотя номинал ниже. Сравнивать нужно только эффективные ставки.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406640" y="4754880"/>
            <a:ext cx="423367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635240" y="4937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801" y="5034321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29600" y="489204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Оговорка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35240" y="5468112"/>
            <a:ext cx="37764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 предполагает реинвестирование купона под ту же ставку. Если ставки падают, реальный результат ниже: это риск реинвестирования.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облигация или вклад?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предлагает вклад на год под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16,3 % годовых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выплатой процентов в конце срока. Облигация того же банка с рейтингом AAA торгуется по номиналу,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 годовых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выплаты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квартал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Срок — 1 год, НДФЛ и комиссии не учитываем.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Посчитайте эффективную ставку по облигации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выгоднее и на сколько процентных пунктов?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какой частоте выплат купон 16 % сравнялся бы с вкладом?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(1 + r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m)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облигация с квартальным купоном даёт 16,99 %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602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Квартальная ставка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16 % / 4 = 4 % за квартал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6746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674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4688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+ 0,04)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 = 1,16986 − 1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16,99 %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5890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589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вкладом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832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16,99 % − 16,30 %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+0,69 п.п.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5034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503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297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1 млн руб.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42976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 × 0,1699 против 1 000 000 × 0,163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169 900 против 163 000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выгоднее на 6 900 руб. с миллиона при условии, что квартальные купоны реинвестируются под те же 16 %. Но вклад застрахован АСВ, а у облигации — кредитный риск эмитента и НДФЛ со всего купона: решение зависит не только от ставки.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АННУИТЕТ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Аннуитет: равные платежи через равные промежутки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31536" cy="1737360"/>
          </a:xfrm>
          <a:prstGeom prst="roundRect">
            <a:avLst>
              <a:gd name="adj" fmla="val 5263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45920"/>
            <a:ext cx="4974336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 = A × [1 − (1 + r)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3589"/>
            <a:ext cx="497433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стоимость аннуитета: сколько стоит поток из n равных платежей 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08776" y="1554480"/>
            <a:ext cx="5431536" cy="1737360"/>
          </a:xfrm>
          <a:prstGeom prst="roundRect">
            <a:avLst>
              <a:gd name="adj" fmla="val 5263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37376" y="1645920"/>
            <a:ext cx="4974336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PV × r / [1 − (1 + r)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pPr algn="ctr" indent="0" marL="0">
              <a:buNone/>
            </a:pPr>
            <a:r>
              <a:rPr lang="en-US" sz="22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37376" y="2653589"/>
            <a:ext cx="497433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аннуитетный платёж: сколько платить, чтобы погасить долг PV за n периодов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3514344" cy="2651760"/>
          </a:xfrm>
          <a:prstGeom prst="roundRect">
            <a:avLst>
              <a:gd name="adj" fmla="val 344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80390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71600" y="36576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встречается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429768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Ипотека и потребительский кредит: равный платёж каждый месяц. Пенсия и рента: равные выплаты. Купоны облигации с постоянным купоном — тоже аннуитет.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337304" y="3520440"/>
            <a:ext cx="3514344" cy="2651760"/>
          </a:xfrm>
          <a:prstGeom prst="roundRect">
            <a:avLst>
              <a:gd name="adj" fmla="val 3448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65904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380390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60264" y="36576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облигацией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4565904" y="429768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облигации = аннуитет купонов + дисконтированный номинал: P = C × [1 − (1 + r)^−n] / r + H / (1 + r)^n. Та же формула, что в лекции 4, только свёрнутая.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125968" y="3520440"/>
            <a:ext cx="3514344" cy="2651760"/>
          </a:xfrm>
          <a:prstGeom prst="roundRect">
            <a:avLst>
              <a:gd name="adj" fmla="val 344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354568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380390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948928" y="36576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Множитель аннуитета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8354568" y="429768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[1 − (1 + r)^−n] / r при r = 15 %, n = 3 равен 2,283: три платежа по 120 руб. стоят сегодня 274 руб., а не 360. При n стремящемся к бесконечности множитель стремится к 1 / r.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аннуитетный кредит и та же облигация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берёт кредит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 руб.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3 года под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 годовых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погашением равными ежегодными платежами (аннуитет). Параллельно она рассматривает выпуск облигации на 3 года с купоном 12 % при требуемой рынком доходности 15 %.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ежегодный платёж по кредиту и какова переплата?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из первого платежа — проценты, сколько — тело долга?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Посчитайте цену облигации через аннуитет купонов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PV × r / [1 −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],   P = C × [1 −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r + H / (1 + r)</a:t>
            </a:r>
            <a:pPr algn="ctr" indent="0" marL="0">
              <a:buNone/>
            </a:pPr>
            <a:r>
              <a:rPr lang="en-US" sz="17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платёж 459 924 руб., цена облигации 931,5 руб.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Множитель аннуитета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[1 − 1,18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0,18 = (1 − 0,6086) / 0,18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2,1743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 по кредиту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 / 2,1743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459 924 руб.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Переплата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459 924 × 3 − 1 000 000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379 772 руб.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платёж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проценты 1 000 000 × 18 % = 180 000; тело 459 924 − 180 000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279 924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облигации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× 2,2832 + 1 000 / 1,15</a:t>
            </a:r>
            <a:pPr indent="0" marL="0">
              <a:buNone/>
            </a:pPr>
            <a:r>
              <a:rPr lang="en-US" sz="13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274,0 + 657,5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931,5 руб.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первом платеже 39 % — проценты, в третьем — только 15 %: аннуитет «съедает» проценты в начале. Цена облигации сошлась с лекцией 4: аннуитет купонов плюс номинал — тот же результат, что сумма трёх дисконтированных платежей.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АННУИТЕТ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Амортизируемая облигация: номинал возвращается частями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309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51560"/>
                <a:gridCol w="868680"/>
                <a:gridCol w="914400"/>
                <a:gridCol w="868680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Остаток номинала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Купон 12 %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Погашение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Платёж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при 15 %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666,67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373,33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245,47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952,21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754880"/>
            <a:ext cx="3514344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77240" y="4937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0383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8920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выше, чем у обычной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777240" y="553212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952,2 руб. против 931,5 у облигации с погашением в конце: деньги возвращаются раньше, дисконт меньше.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337304" y="4754880"/>
            <a:ext cx="3514344" cy="1417320"/>
          </a:xfrm>
          <a:prstGeom prst="roundRect">
            <a:avLst>
              <a:gd name="adj" fmla="val 645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565904" y="4937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488" y="50383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60264" y="48920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Дюрация короче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4565904" y="553212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(1 × 394,2 + 2 × 312,5 + 3 × 245,5) / 952,2 = 1,84 года против 2,69 у обычной. Процентный риск ниже.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125968" y="4754880"/>
            <a:ext cx="3514344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354568" y="4937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152" y="503834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48928" y="48920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8354568" y="553212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эмитенты выпускают амортизируемые облигации, если каждый год приходится возвращать треть? Ответ: это удобно для проектов с равномерной выручкой (лизинг, дороги) и снижает риск рефинансирования.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АННУИТЕТ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Бессрочная облигация: аннуитет без конца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45920"/>
            <a:ext cx="5029200" cy="1166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C / r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12694"/>
            <a:ext cx="50292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вечного аннуитета: n стремится к бесконечности, множитель — к 1 / r</a:t>
            </a:r>
            <a:endParaRPr lang="en-US" sz="11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Требуемая доходность 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при купоне 120 руб.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руб.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руб.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руб.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20 %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руб.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09360" y="1554480"/>
            <a:ext cx="533095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3796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521" y="1833921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0" y="169164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Максимальная чувствительность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2267712"/>
            <a:ext cx="48737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доходности с 12 % до 15 % роняет цену на 20 %, до 20 % — на 40 %. Модифицированная дюрация бессрочной облигации равна 1 / r: при 12 % — 8,3 года.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09360" y="3154680"/>
            <a:ext cx="5330952" cy="1417320"/>
          </a:xfrm>
          <a:prstGeom prst="roundRect">
            <a:avLst>
              <a:gd name="adj" fmla="val 645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37960" y="33375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521" y="3434121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32320" y="329184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встречается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37960" y="3867912"/>
            <a:ext cx="48737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Бессрочные субординированные облигации банков (ВТБ, Газпромбанк, Совкомбанк) — только для квалифицированных инвесторов. Эмитент вправе не платить купон, и это не дефолт; обычно есть колл-опцион через 5–10 лет.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09360" y="4754880"/>
            <a:ext cx="533095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37960" y="4937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521" y="5034321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32320" y="489204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537960" y="5468112"/>
            <a:ext cx="48737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выпустил бессрочную облигацию с купоном 15 %; ставки упали до 10 %. Что он сделает? Воспользуется правом отзыва и перезаймёт под 10 %: инвестор не получит рост цены до 1 500.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сравниваем три облигации одного эмитента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468880"/>
          </a:xfrm>
          <a:prstGeom prst="roundRect">
            <a:avLst>
              <a:gd name="adj" fmla="val 370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AA предлагает три бумаги на 3 года с номиналом 1 000 руб. Требуемая доходность рынка —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12 % раз в год, погашение в конце.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12 % раз в год, номинал гасится по трети ежегодно.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бескупонная, погашение 1 000 руб. через 3 года.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20624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59486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5948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20624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бумага будет стоить дороже всех и почему?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20624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59486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5948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20624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самая рискованная при росте ставок?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20624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59486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5948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20624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выбрать, если ждёте снижения ставок?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669280"/>
            <a:ext cx="1063447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Σ CF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(1 + r)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  D = Σ t × PV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P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6014009"/>
            <a:ext cx="10634472" cy="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цена и дюрация трёх облигаций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602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А: обычная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/ 1,15 + 120 / 1,15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+ 1 120 / 1,15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  D = 2,69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931,5 руб.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6746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674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Б: амортизируемая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4688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453,3 / 1,15 + 413,3 / 1,15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+ 373,3 / 1,15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  D = 1,84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952,2 руб.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5890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589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В: бескупонная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832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/ 1,15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  D = 3,00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657,5 руб.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5034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503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297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выросли на 1 п.п.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42976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/ P ≈ −D / 1,15 × 1 %:  А −2,3 %,  Б −1,6 %,  В −2,6 %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теряет больше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зависит от прогноза ставок: ждёте снижения — берите В (максимальная дюрация), боитесь роста — Б. Цена сама по себе ни о чём не говорит: 657,5 за бескупонную — не «дёшево», а честные 15 % годовых.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ежемесячный купон, вклад с капитализацией и пятилетняя бумага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84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A: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годовых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выплаты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Вклад B: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ежеквартальной капитализацией. Облигация C: 5 лет,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 в год, требуемая доходность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50342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5034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11480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 A и B по эффективной ставке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11480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50342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5034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11480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Посчитайте цену C через множитель аннуитета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11480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50342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5034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11480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произойдёт с ценой C, если доходность упадёт до 10 %?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77840"/>
            <a:ext cx="106344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(1 +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m)</a:t>
            </a:r>
            <a:pPr algn="ctr" indent="0" marL="0">
              <a:buNone/>
            </a:pPr>
            <a:r>
              <a:rPr lang="en-US" sz="15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− 1;   P = C × [1 − (1 + r)</a:t>
            </a:r>
            <a:pPr algn="ctr" indent="0" marL="0">
              <a:buNone/>
            </a:pPr>
            <a:r>
              <a:rPr lang="en-US" sz="15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r + H / (1 + r)</a:t>
            </a:r>
            <a:pPr algn="ctr" indent="0" marL="0">
              <a:buNone/>
            </a:pPr>
            <a:r>
              <a:rPr lang="en-US" sz="15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75604"/>
            <a:ext cx="1063447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вклад B впереди на 0,34 п.п., облигация C — 862,7 руб.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ежемесячный купон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+ 0,15 / 12)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16,08 %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квартальная капитализация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+ 0,155 / 4)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16,42 %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множитель аннуитета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[1 − 1,14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0,14 = (1 − 0,5194) / 0,14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3,433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цена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× 3,433 + 1 000 / 1,14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343,3 + 519,4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862,7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при доходности 10 %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купон равен требуемой доходности: цена равна номиналу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руб. (+15,9 %)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выплат добавляет облигации A целый процентный пункт (15 % превращаются в 16,08 %), но вклад с капитализацией и номиналом выше всё равно впереди. Пятилетняя облигация C при снижении ставок на 4 п.п. даёт почти 16 % роста цены: длинная бумага — ставка на снижение ставок.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 ·  СУТЬ В ТРЁХ ПУНКТАХ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 и аннуитет: главное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40024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5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Сравнивайте эффективные ставки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r_эф = (1 + r_н / m)^m − 1: купон 16 % раз в квартал — это 16,99 %. Вклад «16,3 % в конце срока» проигрывает.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7304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11624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7028688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89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1624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— это аннуитет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1624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C × [1 − (1 + r)^−n] / r + H / (1 + r)^n. Та же формула считает ипотечный платёж: 1 млн под 18 % на 3 года — 459 924 руб. в год.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0028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817352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053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00288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потока меняет риск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0288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Амортизируемая: дороже и короче (D = 1,84). Бескупонная: дешевле и длиннее (D = 3). Бессрочная: P = C / r, MD = 1 / 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63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937760"/>
            <a:ext cx="9902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</a:t>
            </a:r>
            <a:pPr indent="0" marL="0">
              <a:buNone/>
            </a:pPr>
            <a:r>
              <a:rPr lang="en-US" sz="13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разбираем облигации без купона и с индексацией: от ГКО 1998 г. до ОФЗ-ИН и замещающих облигаций.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6677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 ·  О ЧЁМ БУДЕМ ГОВОРИТЬ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Облигации без купона и с индексацией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ЛОГИКЕ ЛЕКЦИИ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купона — облигации, у которых купона нет или он зависит от курса и инфляции.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ответы на вопросы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17904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71600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заработать на облигации, которая не платит купон?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39696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2860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139696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Газпром в 1999 г. привязал купон и номинал к курсу доллара и зачем?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2907792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305409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907792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нерезиденты в 1998 г. заработали на ГКО меньше, чем ожидали?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3675888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3822192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675888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пришло на смену: ОФЗ-ИН, замещающие и юаневые облигации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754880" y="4626864"/>
            <a:ext cx="6885432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855464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532120" y="4828032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029200" y="5312664"/>
            <a:ext cx="63367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 облигация — самый чистый пример дисконтирования: весь доход в разнице цен. Индексируемая — способ занять, когда в рубль не верят. Обе конструкции объясняют, как рынок переживал 1998 г. и 2022 г.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БЕСКУПОННЫЕ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 облигация: доход — только дисконт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937760" cy="2834640"/>
          </a:xfrm>
          <a:prstGeom prst="roundRect">
            <a:avLst>
              <a:gd name="adj" fmla="val 3226"/>
            </a:avLst>
          </a:prstGeom>
          <a:solidFill>
            <a:srgbClr val="F3F8F5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88720" y="1920240"/>
            <a:ext cx="0" cy="2011680"/>
          </a:xfrm>
          <a:prstGeom prst="line">
            <a:avLst/>
          </a:prstGeom>
          <a:noFill/>
          <a:ln w="19050">
            <a:solidFill>
              <a:srgbClr val="1231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3931920"/>
            <a:ext cx="3931920" cy="0"/>
          </a:xfrm>
          <a:prstGeom prst="line">
            <a:avLst/>
          </a:prstGeom>
          <a:noFill/>
          <a:ln w="19050">
            <a:solidFill>
              <a:srgbClr val="1231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54480" y="2825496"/>
            <a:ext cx="822960" cy="1106424"/>
          </a:xfrm>
          <a:prstGeom prst="rect">
            <a:avLst/>
          </a:prstGeom>
          <a:solidFill>
            <a:srgbClr val="C4553D"/>
          </a:solidFill>
          <a:ln w="12700">
            <a:solidFill>
              <a:srgbClr val="C455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2505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800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2121408"/>
            <a:ext cx="822960" cy="1810512"/>
          </a:xfrm>
          <a:prstGeom prst="rect">
            <a:avLst/>
          </a:prstGeom>
          <a:solidFill>
            <a:srgbClr val="1F6F5A"/>
          </a:solidFill>
          <a:ln w="12700">
            <a:solidFill>
              <a:srgbClr val="1F6F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57600" y="1801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1 000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t{пог}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77440" y="2825496"/>
            <a:ext cx="1463040" cy="0"/>
          </a:xfrm>
          <a:prstGeom prst="line">
            <a:avLst/>
          </a:prstGeom>
          <a:noFill/>
          <a:ln w="12700">
            <a:solidFill>
              <a:srgbClr val="5F6F6A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237744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платёж, никаких купонов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663440"/>
            <a:ext cx="448056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(H − P) / P × 365 / t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591556"/>
            <a:ext cx="44805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упрощённая доходность к погашению; точная: r = (H / P)</a:t>
            </a:r>
            <a:pPr algn="ctr" indent="0" marL="0">
              <a:buNone/>
            </a:pPr>
            <a:r>
              <a:rPr lang="en-US" sz="1050" baseline="300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365/t</a:t>
            </a:r>
            <a:pPr algn="ctr"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60720" y="1554480"/>
            <a:ext cx="5879592" cy="1828800"/>
          </a:xfrm>
          <a:prstGeom prst="roundRect">
            <a:avLst>
              <a:gd name="adj" fmla="val 5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164592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1965960"/>
            <a:ext cx="5330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 облигация с погашением через 1 год куплена по </a:t>
            </a:r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от номинала</a:t>
            </a:r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Какую доходность получит инвестор?
</a:t>
            </a:r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(1 000 − 800) / 800 × 365 / 365 = </a:t>
            </a:r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годовых</a:t>
            </a:r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доход 200 руб. на 800 вложенных.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60720" y="3566160"/>
            <a:ext cx="5879592" cy="1211580"/>
          </a:xfrm>
          <a:prstGeom prst="roundRect">
            <a:avLst>
              <a:gd name="adj" fmla="val 754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89320" y="37490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81" y="3845601"/>
            <a:ext cx="245791" cy="245791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583680" y="370332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Дюрация равна сроку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989320" y="4279392"/>
            <a:ext cx="54223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платёж в конце: дюрация равна сроку, чувствительность к ставкам максимальна.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760720" y="4960620"/>
            <a:ext cx="5879592" cy="1211580"/>
          </a:xfrm>
          <a:prstGeom prst="roundRect">
            <a:avLst>
              <a:gd name="adj" fmla="val 754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89320" y="51435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81" y="5240061"/>
            <a:ext cx="245791" cy="245791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583680" y="509778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встречается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5989320" y="5673852"/>
            <a:ext cx="54223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ГКО 1993–1998 гг. на 3–6 месяцев; казначейские векселя США. В России сегодня почти всё — купонное.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4A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743200" cy="2743200"/>
          </a:xfrm>
          <a:prstGeom prst="ellipse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32520" y="10515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  ·  БЕСКУПОННЫЕ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облигация куплена за 80 %, но до погашения 2 года. Доходность — 25 % годовых?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Подсказка: в упрощённой формуле делим на срок, в точной извлекаем корень. Разница тем больше, чем длиннее срок.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Да, 25 % годовых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12,5 % по упрощённой формуле, 11,8 % по точной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12,5 % в любом случае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8844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за два года, значит 25 % в год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Поднимите руку / напишите в чат. 2–3 минуты на обсуждение.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ГКО на 91 день и доходность сделки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Трёхмесячная бескупонная облигация (91 день) куплена на аукционе по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95,5 % номинала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Через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дней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инвестор продал её на вторичном рынке по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97,2 %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доходность к погашению при покупке: упрощённо и точно?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доходность сделки инвестора в годовых?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доходность сделки ниже доходности к погашению?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(H − P) / P × 365 / t;  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(H / P)</a:t>
            </a:r>
            <a:pPr algn="ctr" indent="0" marL="0">
              <a:buNone/>
            </a:pPr>
            <a:r>
              <a:rPr lang="en-US" sz="15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365/t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− 1;  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(P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P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365 / t′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18,9 % упрощённо, 20,3 % точно, сделка — 16,2 %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Дисконт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100 − 95,5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4,5 %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упрощённо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 / 95,5 × 365 / 91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18,90 %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точно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(100 / 95,5)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365/91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20,28 %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сделки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(97,2 − 95,5) / 95,5 × 365 / 40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16,24 %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 покупатель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(100 − 97,2) / 97,2 × 365 / 51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20,62 %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18,9 % и 20,3 % — эффект сложного процента: на коротких сроках и высоких ставках она заметна. Инвестор, продавший через 40 дней, заработал 16,2 %, а покупатель получит 20,6 %: ставки за 40 дней выросли, и цена отстала от «графика». Так на ГКО в 1998 г. и терялись деньги при росте ставок.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ИНДЕКСИРУЕМЫЕ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Индексируемые облигации Газпрома, 1999 г.: купон привязан к курсу доллара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 эмиссии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млрд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Номинал 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обращения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года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Ставка купона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 годовых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Периодичность выплат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раза в год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погашения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15.04.2003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846320" y="1554480"/>
            <a:ext cx="6793992" cy="1737360"/>
          </a:xfrm>
          <a:prstGeom prst="roundRect">
            <a:avLst>
              <a:gd name="adj" fmla="val 5263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74920" y="1645920"/>
            <a:ext cx="6336792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 × 5 % × (R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× (t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t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m−1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365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074920" y="2653589"/>
            <a:ext cx="63367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выплаты по m-му купону: рублёвый купон растёт вместе с курсом доллара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46320" y="3474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46320" y="3474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347472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курс доллара за 30 дней до даты выпуска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46320" y="40233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402336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курс доллара за 30 дней до окончания m-го купонного периода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846320" y="457200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4632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m−1</a:t>
            </a:r>
            <a:pPr algn="ctr"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1F6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172200" y="457200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 начала и окончания m-го купонного периода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68680" y="521208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было нужно: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1999 г., через год после дефолта и четырёхкратной девальвации, занять в рублях на 4 года под фиксированный процент было невозможно: никто не верил рублю. Газпром предложил «долларовую» доходность в рублёвой бумаге: купон 5 % в валютном выражении плюс защита номинала от курса (следующий слайд).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ИНДЕКСИРУЕМЫЕ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номинала: девятый купон и итоги размещения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6035040" cy="1920240"/>
          </a:xfrm>
          <a:prstGeom prst="roundRect">
            <a:avLst>
              <a:gd name="adj" fmla="val 476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45920"/>
            <a:ext cx="55778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 × (R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− 1) = 1 000 × (32,5 / 25,11 − 1) = 294,3 руб.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759659"/>
            <a:ext cx="557784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девятый купон компенсирует падение рубля за 4 года: R₀ = 25,11 руб., R₉ = 32,5 руб. Если R₉ &lt; R₀, то C₉ = 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6035040" cy="2514600"/>
          </a:xfrm>
          <a:prstGeom prst="roundRect">
            <a:avLst>
              <a:gd name="adj" fmla="val 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84048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01" y="3937041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 инвестор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370832"/>
            <a:ext cx="55778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 1 000 руб. плюс 294,3 руб. девятого купона — вместе 1 294,3 руб., ровно столько, сколько стоили в 2003 г. те 39,8 $, в которые превратились 1 000 руб. в 1999 г. Валютный риск нёс эмитент.</a:t>
            </a:r>
            <a:endParaRPr lang="en-US" sz="11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54480"/>
          <a:ext cx="47823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25877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Аукцион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несостоявшийся аукцион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Аукцион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несостоявшийся аукцион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Аукцион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состоявшийся аукцион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Аукцион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состоявшийся аукцион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6858000" y="3611880"/>
            <a:ext cx="4782312" cy="2560320"/>
          </a:xfrm>
          <a:prstGeom prst="roundRect">
            <a:avLst>
              <a:gd name="adj" fmla="val 3571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132320" y="3703320"/>
            <a:ext cx="4233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размещения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продажи — около 80 % номинала, доходность к погашению — около 10 % в долларовом выражении. Первые два аукциона не состоялись: заявки были ниже цены отсечения, которую Газпром был готов принять.
</a:t>
            </a:r>
            <a:pPr indent="0" marL="0">
              <a:buNone/>
            </a:pPr>
            <a:r>
              <a:rPr lang="en-US" sz="11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Урок: </a:t>
            </a:r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валютная защита не отменяет дисконта, если рынок не верит эмитенту и стране. Через год после дефолта инвесторы требовали 10 % в долларах от крупнейшей компании страны.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индексируемая облигация своими руками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выпустила облигацию по образцу Газпрома: номинал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руб.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6 % годовых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выплатой раз в полгода (182 дня), купон и номинал индексируются на курс доллара. Курс при выпуске R₀ =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руб./$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средний курс перед погашением R =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руб./$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последний купон получит инвестор?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«девятый купон» компенсирует рост курса?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всего получит инвестор при погашении и чему это равно в долларах?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 × c × (R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× Δt / 365;   C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индекс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 × (R / R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− 1)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последний купон 34,4 руб., индексация 150 руб.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602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 индексации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92 / 80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6746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674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468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купон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4688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× 0,06 × 1,15 × 182 / 365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34,40 руб.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5890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589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Девятый купон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832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× (1,15 − 1)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383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 руб.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5034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5034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297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погашению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429768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+ 150 + 34,4 = 1 184,4 руб.;  (1 000 + 150) / 92 = 12,5 $ — столько стоили 1 000 руб. при выпуске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1 184,40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 получил ровно долларовую доходность 6 % в рублёвой бумаге: валютный риск целиком взял эмитент. Если бы курс упал до 70, девятого купона не было бы (C = 0), а купоны считались бы по 70/80 = 0,875: индексация работает в обе стороны для купона и только вверх для номинала.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ИЗ ИСТОРИИ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ГКО и нерезиденты, 1996–1998 гг.: откуда взялись 50 % и почему получили 17 %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645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Нерезидент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48840" y="2080260"/>
            <a:ext cx="772668" cy="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1508" y="16459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12948" y="1645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Конвертация
</a:t>
            </a:r>
            <a:pPr algn="ctr" indent="0" marL="0">
              <a:buNone/>
            </a:pPr>
            <a:r>
              <a:rPr lang="en-US" sz="11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руб. по 6 руб./$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1708" y="2080260"/>
            <a:ext cx="772668" cy="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94376" y="16459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1F6F5A"/>
          </a:solidFill>
          <a:ln w="12700">
            <a:solidFill>
              <a:srgbClr val="1F6F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85816" y="1645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ГКО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на 600 руб.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94576" y="2080260"/>
            <a:ext cx="772668" cy="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67244" y="16459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8684" y="1645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Погашение
</a:t>
            </a:r>
            <a:pPr algn="ctr" indent="0" marL="0">
              <a:buNone/>
            </a:pPr>
            <a:r>
              <a:rPr lang="en-US" sz="11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руб. (+50 %)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267444" y="2080260"/>
            <a:ext cx="772668" cy="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40112" y="16459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131552" y="16459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 в $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 по 6 руб./$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28346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28346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Минфина и ЦБ: </a:t>
            </a:r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нерезидент обязан был заключить форвард на обратную покупку долларов по курсу F = 7,7 руб./$ (с премией к текущим 6 руб./$). Тогда 900 руб. / 7,7 = $117: доходность в долларах +17 %, а не +50 %. Разница — плата за «валютный коридор» и защита резервов ЦБ.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3514344" cy="2331720"/>
          </a:xfrm>
          <a:prstGeom prst="roundRect">
            <a:avLst>
              <a:gd name="adj" fmla="val 392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2394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371600" y="3977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50 %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6177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ГКО в 1996–1998 гг. доходила до 50–150 % годовых в рублях: бюджет занимал всё дороже, чтобы гасить старые выпуски — пирамида.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337304" y="3840480"/>
            <a:ext cx="3514344" cy="2331720"/>
          </a:xfrm>
          <a:prstGeom prst="roundRect">
            <a:avLst>
              <a:gd name="adj" fmla="val 392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65904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412394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160264" y="3977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форвард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4565904" y="46177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бы нерезиденты выводили $150 на каждые $100, ЦБ терял бы резервы. Форвард по 7,7 ограничивал долларовую доходность и давал ЦБ время.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125968" y="3840480"/>
            <a:ext cx="3514344" cy="2331720"/>
          </a:xfrm>
          <a:prstGeom prst="roundRect">
            <a:avLst>
              <a:gd name="adj" fmla="val 392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354568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4123944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948928" y="3977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кончилось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8354568" y="46177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17.08.1998 — дефолт по ГКО и отказ от коридора. Курс ушёл с 6 до 20+ руб./$, форварды банков не исполнялись. Отсюда — спрос на индексируемые бумаги в 1999 г.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СЕГОДНЯ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в 2026 г.: ОФЗ-ИН, замещающие и юаневые облигации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514344" cy="3383280"/>
          </a:xfrm>
          <a:prstGeom prst="roundRect">
            <a:avLst>
              <a:gd name="adj" fmla="val 2703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379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691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ОФЗ-ИН: индексация на инфляцию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33172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 ежедневно индексируется на ИПЦ с лагом 3 месяца, купон 2,5 % от проиндексированного номинала. Около 4,4 % рынка ОФЗ, примерно 1,35 трлн руб. на 01.07.2026. Прямой наследник идеи «переменный купон в зависимости от темпа инфляции».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37304" y="1554480"/>
            <a:ext cx="3514344" cy="3383280"/>
          </a:xfrm>
          <a:prstGeom prst="roundRect">
            <a:avLst>
              <a:gd name="adj" fmla="val 2703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65904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18379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0264" y="1691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Замещающие: наследники еврооблигаций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565904" y="233172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Выпущены взамен заблокированных еврооблигаций: номинал и купон в долларах или евро, расчёты в рублях по курсу ЦБ. Корпоративные — 1,51 трлн руб. (54 выпуска), суверенные — 1,32 трлн руб. на 2026 г. Это облигации Газпрома 1999 г. в современном исполнении.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383280"/>
          </a:xfrm>
          <a:prstGeom prst="roundRect">
            <a:avLst>
              <a:gd name="adj" fmla="val 2703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54568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183794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48928" y="1691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Юаневые облигации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8354568" y="233172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Выпуски в юанях с расчётами в юанях или рублях: 1,875 трлн руб. корпоративных на 01.07.2026 — почти половина всех валютных облигаций; плюс три выпуска ОФЗ в юанях на 30 млрд CNY. Купоны 8,5–8,75 % (Атомэнергопром, сентябрь 2026 г.).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516636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логика: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инвестор не верит в рубль или в стабильность инфляции, эмитент берёт этот риск на себя и привязывает платежи к курсу или ценам. Платит за это более низким купоном: 2,5 % у ОФЗ-ИН против 16 % у обычных ОФЗ, 8,5 % в юанях против 16 % в рублях.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БК «Регион», обзор за I полугодие 2026 г.; Cbonds (индекс замещающих облигаций на 30.09.2026); Минфин России; БКС, 25.09.2026.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 ·  СУТЬ В ТРЁХ ПУНКТАХ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купона и с индексацией: главное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40024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5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Дисконт вместо купона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 облигация: r = (H − P) / P × 365 / t; за 80 % на год — 25 %, на два года — 11,8 %. Дюрация равна сроку.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7304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11624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7028688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89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1624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— перенос риска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1624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Газпром 1999 г.: купон 5 % × R_m / R_0 и девятый купон 294,3 руб. Эмитент взял валютный риск, инвестор всё равно потребовал дисконт 20 %.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0028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817352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053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00288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идея сегодня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0288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ОФЗ-ИН (инфляция), замещающие (доллар и евро), юаневые. Плата за защиту — купон в 2–6 раз ниже рублёвого.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63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937760"/>
            <a:ext cx="9902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</a:t>
            </a:r>
            <a:pPr indent="0" marL="0">
              <a:buNone/>
            </a:pPr>
            <a:r>
              <a:rPr lang="en-US" sz="13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переходим к тому, как облигация попадает на рынок: аукцион по цене, аукцион по купону, букбилдинг.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6677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 ·  О ЧЁМ БУДЕМ ГОВОРИТЬ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облигаций: аукционы и букбилдинг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ЛОГИКЕ ЛЕКЦИИ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назначен, конструкция выбрана. Осталось продать выпуск инвесторам.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ответы на вопросы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17904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71600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три способа размещения существуют и чем они различаются?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39696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2860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139696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проходит аукцион и как определяют единую цену размещения?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2907792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305409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907792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решить задачу аукциона по цене и по купону?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3675888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3822192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675888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 букбилдинг на МосБирже в 2026 г. и что видит частный инвестор?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754880" y="4626864"/>
            <a:ext cx="6885432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855464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532120" y="4828032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029200" y="5312664"/>
            <a:ext cx="63367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Первичное размещение — момент, когда определяется, сколько компания заплатит за деньги. Ошибка в цене отсечения стоит эмитенту сотни миллионов, а инвестору — потерю на вторичном рынке в первый же день.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метода размещения корпоративных облигаций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514344" cy="3749040"/>
          </a:xfrm>
          <a:prstGeom prst="roundRect">
            <a:avLst>
              <a:gd name="adj" fmla="val 260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379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691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цене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331720"/>
            <a:ext cx="30571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задан заранее. Участники подают заявки с ценой (в % от номинала) и количеством. Эмитент определяет единую цену размещения: все победители покупают по ней, даже если заявляли выше.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Применяется, когда купон жёстко зафиксирован, например при доразмещении уже обращающегося выпуска.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37304" y="1554480"/>
            <a:ext cx="3514344" cy="3749040"/>
          </a:xfrm>
          <a:prstGeom prst="roundRect">
            <a:avLst>
              <a:gd name="adj" fmla="val 260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65904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18379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0264" y="1691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ставке купона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565904" y="2331720"/>
            <a:ext cx="30571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размещения — 100 % номинала. Участники заявляют желаемую ставку купона и количество. Эмитент устанавливает единую ставку: все, кто просил не больше, получают бумаги.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способ на ММВБ в 2000-е; так размещался «ДЗ-Финанс» в 2006 г.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749040"/>
          </a:xfrm>
          <a:prstGeom prst="roundRect">
            <a:avLst>
              <a:gd name="adj" fmla="val 260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54568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183794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48928" y="169164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Букбилдинг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8354568" y="2331720"/>
            <a:ext cx="30571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книги заявок в ходе премаркетинга и road-show: организатор объявляет ориентир купона, собирает заявки, при переподписке снижает ориентир и распределяет бумаги по своему усмотрению.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— почти все рыночные размещения в России.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у всех трёх: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и купон рождаются из спроса инвесторов, а не назначаются эмитентом. Различие — кто и как принимает решение об отсечении: формальный алгоритм биржи или организатор размещения.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организован аукцион на бирже: четыре шага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55448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554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
</a:t>
            </a:r>
            <a:pPr algn="ctr"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выпуска: объём, срок, купон или цена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292608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F6F5A"/>
          </a:solidFill>
          <a:ln w="12700">
            <a:solidFill>
              <a:srgbClr val="1F6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Торговая система биржи
</a:t>
            </a:r>
            <a:pPr algn="ctr" indent="0" marL="0">
              <a:buNone/>
            </a:pPr>
            <a:r>
              <a:rPr lang="en-US" sz="1050" dirty="0">
                <a:solidFill>
                  <a:srgbClr val="D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заявки, строит реестр, считает цену отсечения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2560320"/>
            <a:ext cx="0" cy="36576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389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389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737360" y="3931920"/>
            <a:ext cx="0" cy="45720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4389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00400" y="4389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89120" y="3931920"/>
            <a:ext cx="0" cy="45720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0" y="43891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0" y="4389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C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515600" y="3931920"/>
            <a:ext cx="0" cy="45720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37360" y="3931920"/>
            <a:ext cx="8778240" cy="0"/>
          </a:xfrm>
          <a:prstGeom prst="line">
            <a:avLst/>
          </a:prstGeom>
          <a:noFill/>
          <a:ln w="19050">
            <a:solidFill>
              <a:srgbClr val="5F6F6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5349240"/>
            <a:ext cx="2635758" cy="822960"/>
          </a:xfrm>
          <a:prstGeom prst="roundRect">
            <a:avLst>
              <a:gd name="adj" fmla="val 1111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5486400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заявок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989320"/>
            <a:ext cx="22699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через брокеров подают заявки: цена (или купон) и количество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67278" y="5349240"/>
            <a:ext cx="2635758" cy="822960"/>
          </a:xfrm>
          <a:prstGeom prst="roundRect">
            <a:avLst>
              <a:gd name="adj" fmla="val 1111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50158" y="55321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550158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007358" y="5486400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заявок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3550158" y="5989320"/>
            <a:ext cx="22699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биржа составляет реестр, сортируя заявки от лучшей для эмитента к худшей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85916" y="5349240"/>
            <a:ext cx="2635758" cy="822960"/>
          </a:xfrm>
          <a:prstGeom prst="roundRect">
            <a:avLst>
              <a:gd name="adj" fmla="val 11111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68796" y="55321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68796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825996" y="5486400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размещения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6368796" y="5989320"/>
            <a:ext cx="22699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определяет единую цену (или ставку) отсечения, исходя из нужного объёма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9004554" y="5349240"/>
            <a:ext cx="2635758" cy="822960"/>
          </a:xfrm>
          <a:prstGeom prst="roundRect">
            <a:avLst>
              <a:gd name="adj" fmla="val 1111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187434" y="55321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87434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9644634" y="5486400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Сделки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9187434" y="5989320"/>
            <a:ext cx="226999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оформляются по цене размещения со всеми, чьи заявки были не хуже цены отсечения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цене: какой будет цена размещения?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91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займа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103120"/>
            <a:ext cx="4860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размещаемых облигаций: </a:t>
            </a:r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млн шт.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купона: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размещения: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эмитента — определить единую цену размещения для всех победителей аукциона.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1636" y="1554480"/>
          <a:ext cx="540867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72818"/>
                <a:gridCol w="197281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Участник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Цена, % номинала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Количество, млн шт.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31636" y="342900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заявок, отсортированный от лучшей цены для эмитента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3068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41605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1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8006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цену отсечения установит эмитент, если хочет разместить все 3 млн облигаций?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337304" y="402336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65904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43068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60264" y="41605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2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4565904" y="48006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получит участник C, который заявил 100 %?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125968" y="402336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354568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430682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948928" y="41605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3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8354568" y="48006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у эмитента альтернатива: разместить меньше, но дороже? Посчитайте выручку в обоих случаях.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68680" y="566928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минуты на решение.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— на следующем слайде.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 · РЕШЕНИЕ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цене: 97,25 % для всех, если нужны все 3 млн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011680"/>
                <a:gridCol w="2926080"/>
                <a:gridCol w="26791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Участник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Накопленный объём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 отсечении 97,25 %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 отсечении 99 %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100,00 % × 1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млн по 97,25 %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млн по 99 %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99,00 % × 1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млн по 97,25 %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млн по 99 %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97,25 % × 2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млн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млн по 97,25 % (частично)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удовлетворена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млн; выручка 2 917,5 млн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млн; выручка 1 980 млн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931920"/>
            <a:ext cx="3514344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06908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цена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470916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победители платят цену отсечения, а не свою заявку. Поэтому заявлять «честную» высокую цену не страшно: переплаты не будет, а шанс получить бумаги выше. Это голландский аукцион единой цены.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37304" y="3931920"/>
            <a:ext cx="3514344" cy="2240280"/>
          </a:xfrm>
          <a:prstGeom prst="roundRect">
            <a:avLst>
              <a:gd name="adj" fmla="val 408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65904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42153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60264" y="406908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Дилемма эмитента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4565904" y="470916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97,25 %: привлёк 2,92 млрд, но доходность к погашению для инвесторов выше купона 10 %: занял дороже. 99 %: привлёк 1,98 млрд дешевле. Решение зависит от того, сколько денег нужно и какова цель по стоимости долга.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125968" y="3931920"/>
            <a:ext cx="3514344" cy="2240280"/>
          </a:xfrm>
          <a:prstGeom prst="roundRect">
            <a:avLst>
              <a:gd name="adj" fmla="val 408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54568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421538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48928" y="406908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8354568" y="470916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сделает участник A в следующий раз, зная, что отсечение прошло по его цене? Поднимет цену, чтобы получить весь объём, или останется: при единой цене его заявка и так определила рынок.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ставке купона: какой будет купон?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91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займа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103120"/>
            <a:ext cx="4860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размещаемых облигаций: </a:t>
            </a:r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млн шт.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купона: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размещения: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номинала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эмитента — определить единую ставку купона.</a:t>
            </a:r>
            <a:endParaRPr lang="en-US" sz="13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1636" y="1554480"/>
          <a:ext cx="540867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72818"/>
                <a:gridCol w="197281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Участник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Купон, % годовых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Количество, млн шт.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31636" y="342900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заявок: от самой низкой ставки (лучшей для эмитента) к самой высокой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3514344" cy="2148840"/>
          </a:xfrm>
          <a:prstGeom prst="roundRect">
            <a:avLst>
              <a:gd name="adj" fmla="val 425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3068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41605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80060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разместить 3 млн, эмитент берёт C, B и половину A: ставка отсечения 11,75 %, и её получают все, включая C, просившего 10 %. Если хватит 2 млн — купон 10,5 %.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37304" y="4023360"/>
            <a:ext cx="3514344" cy="2148840"/>
          </a:xfrm>
          <a:prstGeom prst="roundRect">
            <a:avLst>
              <a:gd name="adj" fmla="val 425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65904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43068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60264" y="41605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решения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4565904" y="480060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11,75 % и 10,5 % на 3 млрд руб. — 37,5 млн руб. в год, за 3 года 112,5 млн. Эмитент сравнивает это с ценой недобора 1 млрд руб. из других источников.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125968" y="4023360"/>
            <a:ext cx="3514344" cy="2148840"/>
          </a:xfrm>
          <a:prstGeom prst="roundRect">
            <a:avLst>
              <a:gd name="adj" fmla="val 425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354568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430682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948928" y="41605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8354568" y="480060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аукцион по купону лучше аукциона по цене для розничного инвестора? Ответ: цена всегда 100 %, купон «читаемый» — проще сравнить с вкладом.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 ·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Букбилдинг сегодня: как это выглядит для эмитента и для инвестора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635758" cy="2651760"/>
          </a:xfrm>
          <a:prstGeom prst="roundRect">
            <a:avLst>
              <a:gd name="adj" fmla="val 346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98598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182" y="18379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224028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Премаркетинг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265176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 (банк) объявляет параметры и ориентир купона: «не выше КС + 160 б.п.» или «не выше 16,5 %». За 1–3 дня собирает индикативный спрос.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67278" y="1554480"/>
            <a:ext cx="2635758" cy="2651760"/>
          </a:xfrm>
          <a:prstGeom prst="roundRect">
            <a:avLst>
              <a:gd name="adj" fmla="val 346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50158" y="17373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5015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17236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83794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550158" y="224028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 заявок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550158" y="265176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размещения книга открыта от часов до дня. Инвесторы подают заявки через брокера: объём и максимальная ставка, которую готовы принять.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85916" y="1554480"/>
            <a:ext cx="2635758" cy="2651760"/>
          </a:xfrm>
          <a:prstGeom prst="roundRect">
            <a:avLst>
              <a:gd name="adj" fmla="val 3469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68796" y="17373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68796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35874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458" y="183794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368796" y="224028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ориентира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368796" y="265176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переподписке организатор снижает ставку: «ориентир снижен до КС + 150 б.п.». Часть заявок с более высокой ставкой выпадает. Финальный купон — единый для всех.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004554" y="1554480"/>
            <a:ext cx="2635758" cy="2651760"/>
          </a:xfrm>
          <a:prstGeom prst="roundRect">
            <a:avLst>
              <a:gd name="adj" fmla="val 346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187434" y="17373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187434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0954512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096" y="183794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187434" y="2240280"/>
            <a:ext cx="22699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Аллокация и расчёты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9187434" y="265176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 распределяет бумаги: при переподписке в 3 раза заявку режут. Через 2–5 дней — техническое размещение на бирже по 100 % номинала, бумаги на счёте.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43891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22960" y="4480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минут</a:t>
            </a:r>
            <a:endParaRPr lang="en-US" sz="2200" dirty="0"/>
          </a:p>
        </p:txBody>
      </p:sp>
      <p:sp>
        <p:nvSpPr>
          <p:cNvPr id="38" name="Text 31"/>
          <p:cNvSpPr txBox="1"/>
          <p:nvPr/>
        </p:nvSpPr>
        <p:spPr>
          <a:xfrm>
            <a:off x="822960" y="5166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столько «Газпром капитал» собрал книгу на 60 млрд руб. в августе 2026 г.: ориентир «не выше КС + 160 б.п.», итог — КС + 150 б.п.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4389120" y="43891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4663440" y="4480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47 % и 29 %</a:t>
            </a:r>
            <a:endParaRPr lang="en-US" sz="2200" dirty="0"/>
          </a:p>
        </p:txBody>
      </p:sp>
      <p:sp>
        <p:nvSpPr>
          <p:cNvPr id="41" name="Text 34"/>
          <p:cNvSpPr txBox="1"/>
          <p:nvPr/>
        </p:nvSpPr>
        <p:spPr>
          <a:xfrm>
            <a:off x="4663440" y="5166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выпусков 2025 г. в первый день торгов выросли более чем на 0,2 % и, соответственно, ушли ниже номинала: участие в размещении — не гарантия прибыли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229600" y="4389120"/>
            <a:ext cx="3410712" cy="1783080"/>
          </a:xfrm>
          <a:prstGeom prst="roundRect">
            <a:avLst>
              <a:gd name="adj" fmla="val 5128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503920" y="448056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19 %</a:t>
            </a:r>
            <a:endParaRPr lang="en-US" sz="2200" dirty="0"/>
          </a:p>
        </p:txBody>
      </p:sp>
      <p:sp>
        <p:nvSpPr>
          <p:cNvPr id="44" name="Text 37"/>
          <p:cNvSpPr txBox="1"/>
          <p:nvPr/>
        </p:nvSpPr>
        <p:spPr>
          <a:xfrm>
            <a:off x="8503920" y="516636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 корпоративными облигациями в I полугодии 2026 г. — физлица; в 2025 г. они купили облигаций на 1,26 трлн руб.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Ведомости, 25.08.2026; РБК/Cbonds, итоги 2025 г.; МосБиржа, дайджест первичных рынков за I полугодие 2026 г.; Банк России.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РАЗМЕЩЕНИЕ ·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Первичный рынок: рекорд 2025 г. и сдвиг к банкам в 2026 г.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1554480"/>
            <a:ext cx="2743200" cy="1472184"/>
          </a:xfrm>
          <a:prstGeom prst="roundRect">
            <a:avLst>
              <a:gd name="adj" fmla="val 6211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66560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трлн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23317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разместили в 2025 г. — в 1,5 раза больше 2024 г.; 2 300 выпусков, 350 эмитентов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92240" y="3191256"/>
            <a:ext cx="2743200" cy="1472184"/>
          </a:xfrm>
          <a:prstGeom prst="roundRect">
            <a:avLst>
              <a:gd name="adj" fmla="val 621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0" y="3282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70 %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396849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размещений 2025 г. — эмитенты AAA; ниже A — всего 2,4 %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418320" y="1554480"/>
            <a:ext cx="2221992" cy="1472184"/>
          </a:xfrm>
          <a:prstGeom prst="roundRect">
            <a:avLst>
              <a:gd name="adj" fmla="val 6211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92640" y="164592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 трлн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9692640" y="2331720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за сентябрь 2026 г. (135 размещений, +24 % г/г): финансовый сектор 80 %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418320" y="3191256"/>
            <a:ext cx="2221992" cy="1472184"/>
          </a:xfrm>
          <a:prstGeom prst="roundRect">
            <a:avLst>
              <a:gd name="adj" fmla="val 6211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92640" y="3282696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млрд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9692640" y="3968496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— два выпуска Роснефти в марте 2026 г., крупнейшие за год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68680" y="4846320"/>
            <a:ext cx="10451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изменилось в 2026 г.: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объёмы растут, но структура смещается к банкам и финансовым компаниям (54 % в августе, около 80 % в сентябре), реальный сектор занимает меньше — минимум за два года. Ставка 14 % всё ещё дорогая для заводов, но комфортная для банков и лизинга, которые перекладывают её на клиентов.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Коммерсантъ по данным Cbonds (14.01.2026, 03.08.2026, 02.09.2026, 05.10.2026); РБК; МосБиржа. Данные за 9 месяцев 2026 г. — сумма месячных оценок Cbonds, около 7,4 трлн руб. Разные источники считают по-разному: МосБиржа даёт 12 трлн за 2025 г. с учётом нерыночных выпусков.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аукцион по купону с четырьмя участниками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размещает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млн облигаций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номиналом 1 000 руб. по цене 100 % через аукцион по ставке купона. Заявки: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11,0 % на 1 млн;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11,5 % на 1,5 млн;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12,0 % на 1,5 млн;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12,5 % на 2 млн.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ставка отсечения, если нужны все 4 млн, и кто что получит?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изменится, если эмитенту хватит 3 млн?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стоит эмитенту разница между этими решениями за год?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ставка отсечения = самая высокая из принятых заявок; все победители получают её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ставка отсечения 12 %, участник A остаётся без бумаг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11,0 % (1 млн)  ·  C 11,5 % (1,5 млн)  ·  B 12,0 % (1,5 млн)  ·  A 12,5 % (2 млн)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росту ставки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Накопленный объём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  ·  2,5  ·  4,0  ·  6,0 млн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млн при B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4 млн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отсечение 12 %: D, C и B получают всё, A — ничего; купон 12 % для всех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млн руб./год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3 млн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1 млн + C 1,5 млн + B 0,5 млн из 1,5; отсечение всё равно 12 %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млн руб./год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бы хватило 2,5 млн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отсечение 11,5 %: купон ниже на 0,5 п.п. для всего выпуска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12,5 млн руб./год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дополнительный миллион бумаг достаётся дороже, и дорожает весь выпуск, а не только последний миллион: единая ставка. Поэтому эмитенты часто заранее объявляют «от 3 до 5 млрд руб.» и решают объём по итогам книги.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букбилдинг от заявки до первого дня торгов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AAA размещает двухлетние облигации, ориентир купона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выше 16,5 %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выплаты раз в год. Вы подали заявку на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млн руб.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Книга переподписана в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раза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купон установлен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На следующий день аналогичные бумаги торгуются с доходностью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бумаг вы, скорее всего, получите?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справедливая цена бумаги при доходности 15,5 %?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вы заработали за день на полученном объёме?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C / (1 + r) + (C + H) / (1 + r)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3,3 млн вместо 10 и плюс 0,49 % в первый день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Аллокация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млн / 3 (пропорционально переподписке)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 млн руб.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ориентир 16,5 % снижен до 15,8 %: переподписка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руб. в год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Справедливая цена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 / 1,155 + 1 158 / 1,155</a:t>
            </a:r>
            <a:pPr indent="0" marL="0">
              <a:buNone/>
            </a:pPr>
            <a:r>
              <a:rPr lang="en-US" sz="13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136,8 + 868,1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1 004,85 руб.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первого дня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(1 004,85 − 1 000) / 1 000 × 3,33 млн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+16,2 тыс. руб.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бы ставка выросла до 16,5 %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 / 1,165 + 1 158 / 1,165</a:t>
            </a:r>
            <a:pPr indent="0" marL="0">
              <a:buNone/>
            </a:pPr>
            <a:r>
              <a:rPr lang="en-US" sz="13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135,6 + 853,2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988,8 руб. (−1,1 %)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первого дня — не подарок, а плата рынка за то, что организатор отсёк купон чуть выше справедливого. Если бы доходность на вторичном рынке оказалась 16,5 %, те же бумаги стоили бы 98,9 %. Поэтому заявку в букбилдинг подают с лимитом по купону, а не «по любой ставке».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4A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743200" cy="2743200"/>
          </a:xfrm>
          <a:prstGeom prst="ellipse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32520" y="10515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  ·  РАЗМЕЩЕНИЕ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подали заявку в букбилдинге: 100 бумаг при ориентире «не выше 16 %». Книга переподписана в три раза. Что вы получите?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Вспомните механику: единый купон, снижение ориентира при переподписке, аллокация по усмотрению организатора.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бумаг с купоном 16 %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30 бумаг с купоном ниже 16 %, например 15,2 %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бумаг с купоном 15,2 %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8844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Ничего: при переподписке розницу отсекают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Поднимите руку / напишите в чат. 2–3 минуты на обсуждение.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  ·  СУТЬ В ТРЁХ ПУНКТАХ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Размещение: главное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40024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5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метода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цене (купон задан), аукцион по купону (цена 100 %), букбилдинг (книга заявок у организатора). Сегодня почти всё — букбилдинг.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7304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11624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7028688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89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1624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цена отсечения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1624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победители платят одну цену или получают один купон. В задаче: 97,25 % и 11,75 %, если нужны все 3 млн; 99 % и 10,5 %, если хватит двух.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0028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817352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053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00288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Переподписка — норма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0288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снижают, заявки режут: 60 млрд за 40 минут у Газпрома. 2025 г. — рекордные 9 трлн руб. размещений; в 2026 г. рынок смещается к банкам.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63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937760"/>
            <a:ext cx="9902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</a:t>
            </a:r>
            <a:pPr indent="0" marL="0">
              <a:buNone/>
            </a:pPr>
            <a:r>
              <a:rPr lang="en-US" sz="13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на рынок целиком: 36 трлн руб. корпоративных облигаций, кто их выпускает и кто не платит.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166774"/>
            <a:ext cx="409651" cy="4096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 ·  О ЧЁМ БУДЕМ ГОВОРИТЬ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корпоративных облигаций в 2026 году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В ЛОГИКЕ ЛЕКЦИИ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механики к картине в целом: где в этом рынке место частного инвестора.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688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ответы на вопросы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517904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1371600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вырос рынок за 20 лет и какова его структура сегодня?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39696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22860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834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2139696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выпускает облигации: отрасли, эшелоны, качество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2907792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305409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907792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дефолтов и где они происходят?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54880" y="3675888"/>
            <a:ext cx="6885432" cy="658368"/>
          </a:xfrm>
          <a:prstGeom prst="roundRect">
            <a:avLst>
              <a:gd name="adj" fmla="val 13889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3822192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8348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3675888"/>
            <a:ext cx="5879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стало с еврооблигациями российских компаний?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754880" y="4626864"/>
            <a:ext cx="6885432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855464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532120" y="4828032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029200" y="5312664"/>
            <a:ext cx="63367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рынка — проверка всего, что мы разобрали: флоатеры видны в структуре, букбилдинг — в объёмах размещений, рейтинг — в статистике дефолтов. Цифры 2026 г. объясняют, почему 78 % рынка — у десятка эмитентов.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корпоративных облигаций в обращении, 2006–2026 гг.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863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8686800" y="1554480"/>
            <a:ext cx="2953512" cy="1429512"/>
          </a:xfrm>
          <a:prstGeom prst="roundRect">
            <a:avLst>
              <a:gd name="adj" fmla="val 639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0" y="164592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×76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8961120" y="2331720"/>
            <a:ext cx="240487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20 лет: с 0,47 трлн руб. в 2006 г. до 35,8 трлн руб. на 01.07.2026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686800" y="3148584"/>
            <a:ext cx="2953512" cy="1429512"/>
          </a:xfrm>
          <a:prstGeom prst="roundRect">
            <a:avLst>
              <a:gd name="adj" fmla="val 63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961120" y="3240024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трлн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8961120" y="3925824"/>
            <a:ext cx="240487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за один 2024 г. — рекорд: при ставке 16–21 % компании занимали на бирже, а не в банках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86800" y="4742688"/>
            <a:ext cx="2953512" cy="1429512"/>
          </a:xfrm>
          <a:prstGeom prst="roundRect">
            <a:avLst>
              <a:gd name="adj" fmla="val 63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61120" y="483412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37,4 трлн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8961120" y="5519928"/>
            <a:ext cx="240487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— оценка Банка России на 01.09.2026 (+20 % за год); Cbonds считает только рыночные выпуски: 31,8 трлн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2006–2021 гг. — данные лекции (Cbonds); 2022–2026 гг. — БК «Регион» по данным МосБиржи и Минфина (на 1 января; последняя точка — 01.07.2026); Банк России, статистика выпущенных ценных бумаг. Методики различаются, ряд сопоставим с точностью до 1–2 трлн.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российского рынка облигаций: 2007, 2024 и 2026 гг.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914400"/>
                <a:gridCol w="1463040"/>
                <a:gridCol w="91440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 облигаций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01.01.2007, трлн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01.01.2024, трлн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01.07.2026, трлн руб.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Государственные (ОФЗ)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Субфедеральные и муниципальные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Корпоративные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Замещающие и юаневые ОФЗ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14800"/>
            <a:ext cx="3514344" cy="2057400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39826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2519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×26 за 19 лет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489204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рынок вырос с 2,6 до 68,6 трлн руб. Корпоративный сегмент стабильно больше половины: компании занимают на бирже больше, чем государство.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337304" y="4114800"/>
            <a:ext cx="3514344" cy="2057400"/>
          </a:xfrm>
          <a:prstGeom prst="roundRect">
            <a:avLst>
              <a:gd name="adj" fmla="val 444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65904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88" y="43982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60264" y="42519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Регионы ушли с рынка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4565904" y="489204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субфедеральных облигаций упала с 8,9 % до 0,6 %: регионы заменили облигации бюджетными кредитами по 0,1 % годовых — рынок им не нужен.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125968" y="4114800"/>
            <a:ext cx="3514344" cy="2057400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54568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152" y="439826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48928" y="42519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класс бумаг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8354568" y="489204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Замещающие суверенные (1,3 трлн руб.) и ОФЗ в юанях (0,3 трлн) появились после 2022 г. и уже равны по объёму всему рынку 2007 г.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данные лекции (2007); БК «Регион», обзоры за 2024 г. и I полугодие 2026 г. Корпоративные замещающие облигации включены в корпоративный сегмент.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выпускает: отрасли и эшелоны, 2026 г.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858000" y="1371600"/>
          <a:ext cx="478231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6858000" y="3566160"/>
            <a:ext cx="4782312" cy="1211580"/>
          </a:xfrm>
          <a:prstGeom prst="roundRect">
            <a:avLst>
              <a:gd name="adj" fmla="val 754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086600" y="37490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161" y="3845601"/>
            <a:ext cx="245791" cy="24579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80960" y="3703320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7086600" y="4279392"/>
            <a:ext cx="432511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Нефтегаз — четверть рынка (8,9 трлн руб.). Финансовый сектор — 37 % объёма, но 69 % выпусков: много мелких бумаг.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858000" y="4960620"/>
            <a:ext cx="4782312" cy="1211580"/>
          </a:xfrm>
          <a:prstGeom prst="roundRect">
            <a:avLst>
              <a:gd name="adj" fmla="val 754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086600" y="51435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161" y="5240061"/>
            <a:ext cx="245791" cy="24579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680960" y="5097780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живёт риск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086600" y="5673852"/>
            <a:ext cx="432511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 — 3,4 % объёма, но 612 выпусков и почти все дефолты. В 2015 г. эшелоны делились 64 / 22 / 13 %.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БК «Регион», обзоры за I квартал и I полугодие 2026 г. (5 105 выпусков 667 эмитентов).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Дефолты 2025–2026 гг.: волна в третьем эшелоне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331720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эмитентов допустили дефолт в 2025 г., 28 — впервые; 55 млрд руб. обязательств (Банк России)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945636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0370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45 %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22876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проблемных бумаг 2025 г. было на руках у физлиц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331720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эмитентов могут уйти в дефолт за 2026 г. — максимум с 2010 г. (прогноз НКР)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3945636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49040" y="40370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млрд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4722876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— «ЕвроТранс», крупнейший дефолт 2026 г.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1554480"/>
            <a:ext cx="523951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940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961" y="1833921"/>
            <a:ext cx="245791" cy="24579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223760" y="16916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2267712"/>
            <a:ext cx="4782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занимали в 2023–2024 гг. под 18–25 % на 2–3 года; рефинансировать долг в 2026 г. под 16–20 % при падающей выручке не получается. Ставка снижается, а долговая нагрузка — с лагом.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00800" y="3154680"/>
            <a:ext cx="5239512" cy="1417320"/>
          </a:xfrm>
          <a:prstGeom prst="roundRect">
            <a:avLst>
              <a:gd name="adj" fmla="val 645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29400" y="33375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961" y="3434121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23760" y="32918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для инвестора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629400" y="3867912"/>
            <a:ext cx="4782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25 % против 16 % у AAA — это 9 п.п. премии за риск. При вероятности дефолта 10 % в год и возврате 30 % ожидаемая потеря — 7 п.п.: премия почти не покрывает риск. Диверсификация в ВДО обязательна.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400800" y="4754880"/>
            <a:ext cx="5239512" cy="1417320"/>
          </a:xfrm>
          <a:prstGeom prst="roundRect">
            <a:avLst>
              <a:gd name="adj" fmla="val 6452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29400" y="4937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961" y="5034321"/>
            <a:ext cx="245791" cy="24579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223760" y="4892040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629400" y="5468112"/>
            <a:ext cx="4782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с рейтингом BB размещает флоатер КС + 6 п.п. Что для него опаснее: снижение ставки или её сохранение на 14 %? Сохранение: купон 20 % душит бизнес, а флоатер не даёт выигрыша от снижения.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Банк России, обзор финансовых инструментов за 2025 г.; Эксперт РА; НКР; Известия, 06.10.2026; finance.mail.ru.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покрывает ли премия за риск ожидаемые потери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эмитента с рейтингом BB даёт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облигация AAA того же срока —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По статистике агентств вероятность дефолта BB за год —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при дефолте инвесторы возвращают в среднем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вложенного.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премия за риск в процентных пунктах?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ожидаемая потеря за год?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02336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41198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02336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ли покупать и что изменится при вероятности дефолта 10 %?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10634472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ожидаемая потеря = PD × (1 − возврат);   премия = r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</a:t>
            </a:r>
            <a:pPr algn="ctr" indent="0" marL="0">
              <a:buNone/>
            </a:pPr>
            <a:r>
              <a:rPr lang="en-US" sz="17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37199"/>
            <a:ext cx="106344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премия 6 п.п. против потери 5,6 п.п. — почти без запаса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Премия за риск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22 % − 16 %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п.п.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при дефолте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1 − 30 % возврата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потеря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8 % × 70 %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п.п.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6,0 − 5,6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+0,4 п.п.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PD = 10 %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 × 70 % = 7,0 п.п. &gt; 6,0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−1,0 п.п.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BB-бумага даёт лишь 16,4 % против 16 % у AAA — за это инвестор берёт риск потерять 70 % в один год из двенадцати. В 2026 г., когда в дефолт идут 40–50 эмитентов, фактическая PD в третьем эшелоне выше 8 %: премия 6 п.п. риск не покрывает. Отсюда правило: ВДО — только малыми долями и широко.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спред, дюрация и портфель ВДО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2377440"/>
          </a:xfrm>
          <a:prstGeom prst="roundRect">
            <a:avLst>
              <a:gd name="adj" fmla="val 384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01168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Десятилетняя ОФЗ даёт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16,88 %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облигация AAA того же срока —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её модифицированная дюрация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Второй портфель: 20 облигаций ВДО равными долями, купон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вероятность дефолта каждой за год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возврат при дефолте 30 %.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450342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5034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11480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 кредитный спред AAA и что будет с ценой, если спред расширится на 0,5 п.п.?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22064" y="411480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0664" y="450342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0664" y="45034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99304" y="411480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дефолтов ждать в портфеле ВДО за год и какова ожидаемая доходность?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95488" y="4114800"/>
            <a:ext cx="3544824" cy="1188720"/>
          </a:xfrm>
          <a:prstGeom prst="roundRect">
            <a:avLst>
              <a:gd name="adj" fmla="val 7692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4088" y="4503420"/>
            <a:ext cx="411480" cy="41148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4088" y="45034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72728" y="4114800"/>
            <a:ext cx="258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опаснее для портфеля ВДО: один дефолт или рост ставок?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77840"/>
            <a:ext cx="1063447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спред =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AAA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ОФЗ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  ΔP / P ≈ −MD × Δспред;   r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</a:t>
            </a:r>
            <a:pPr algn="ctr"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купон − PD × (1 − возврат)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975604"/>
            <a:ext cx="1063447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минут на решение, разбор — на следующем слайде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РАЗБОР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Разбор: спред 1,3 п.п., портфель ВДО даёт 16,4 % в среднем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66878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668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спред AAA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18,2 % − 16,88 %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 п.п.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8600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40030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Спред шире на 0,5 п.п.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228600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/ P ≈ −4 × 0,5 %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35431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−2,0 %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313182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Ожидаемое число дефолтов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01752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× 8 %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бумаги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7490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86334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потеря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069080" y="374904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8 % × (1 − 30 %)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 п.п.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48056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4594860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594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480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доходность ВДО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4480560"/>
            <a:ext cx="5193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22 % − 5,6 п.п.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354312" y="4480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16,4 %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13832"/>
            <a:ext cx="402336" cy="40233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417320" y="5257800"/>
            <a:ext cx="9948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Портфель ВДО в среднем приносит столько же, сколько AAA, но с разбросом: в хороший год 22 %, в плохой, когда дефолтов 3–4, около 10 %. Премия 5,6 п.п. — это не доход, а страховой резерв. Если он не покрывает потери, как в 2026 г., рынок ВДО переоценивается вниз: именно это происходит сейчас.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ставка, 2024–2026 гг.: от 21 % к 14 %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554480"/>
            <a:ext cx="3319272" cy="1429512"/>
          </a:xfrm>
          <a:prstGeom prst="roundRect">
            <a:avLst>
              <a:gd name="adj" fmla="val 639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95360" y="1645920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 п.п.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331720"/>
            <a:ext cx="27706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13 месяцев: с 21 % (октябрь 2024 г.) до 14 % (24.07.2026). Десять снижений подряд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321040" y="3148584"/>
            <a:ext cx="3319272" cy="1429512"/>
          </a:xfrm>
          <a:prstGeom prst="roundRect">
            <a:avLst>
              <a:gd name="adj" fmla="val 63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95360" y="3240024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 п.п.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3925824"/>
            <a:ext cx="27706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снижения в июне 2026 г.: цикл замедлился. 11.09.2026 — первая пауза; следующее заседание 23.10.2026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321040" y="4742688"/>
            <a:ext cx="3319272" cy="1429512"/>
          </a:xfrm>
          <a:prstGeom prst="roundRect">
            <a:avLst>
              <a:gd name="adj" fmla="val 63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95360" y="4834128"/>
            <a:ext cx="2770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+10…15 %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8595360" y="5519928"/>
            <a:ext cx="27706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выиграли в цене трёхлетние облигации с постоянным купоном, купленные летом 2025 г.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Банк России, решения по ключевой ставке (cbr.ru/hd_base/KeyRate).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доходности ОФЗ на 30.09.2026 и доходность корпоративных облигаций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1554480"/>
            <a:ext cx="4416552" cy="1883664"/>
          </a:xfrm>
          <a:prstGeom prst="roundRect">
            <a:avLst>
              <a:gd name="adj" fmla="val 485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0" y="164592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16,66 %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2331720"/>
            <a:ext cx="38679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индекса корпоративных облигаций МосБиржи при дюрации 680 дней (06.10.2026): премия к ОФЗ около 1,3 п.п.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223760" y="3602736"/>
            <a:ext cx="4416552" cy="1883664"/>
          </a:xfrm>
          <a:prstGeom prst="roundRect">
            <a:avLst>
              <a:gd name="adj" fmla="val 485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498080" y="3694176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+3,2 п.п.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4379976"/>
            <a:ext cx="38679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наклон кривой: 10 лет дают 16,88 % против 13,72 % за год. Рынок ждёт, что ставка 14 % — не навсегда, но и не вернётся к 7–8 %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8680" y="56235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конец (13,7 %) ниже ключевой ставки 14 % — рынок закладывает снижение в ближайший год. Длинный конец (16,9–17,2 %) выше: премия за срок и за неопределённость инфляции. Корпоративные бумаги с рейтингом AAA дают ещё плюс 1–1,5 п.п. за кредитный риск.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Банк России, параметры кривой бескупонной доходности на 30.09.2026; Cbonds, индекс RUCBTRNS на 06.10.2026.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состоят ОФЗ и валютный сегмент, кто размещается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3544824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322064" y="1417320"/>
          <a:ext cx="3544824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8095488" y="1417320"/>
          <a:ext cx="3544824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hape 5"/>
          <p:cNvSpPr/>
          <p:nvPr/>
        </p:nvSpPr>
        <p:spPr>
          <a:xfrm>
            <a:off x="548640" y="4572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77240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85546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71600" y="47091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ОФЗ</a:t>
            </a:r>
            <a:endParaRPr lang="en-US" sz="1250" dirty="0"/>
          </a:p>
        </p:txBody>
      </p:sp>
      <p:sp>
        <p:nvSpPr>
          <p:cNvPr id="15" name="Text 8"/>
          <p:cNvSpPr txBox="1"/>
          <p:nvPr/>
        </p:nvSpPr>
        <p:spPr>
          <a:xfrm>
            <a:off x="777240" y="53492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 госдолга — флоатеры: при ставке 21 % Минфин тоже не хотел фиксировать. В 2026 г. он сокращает их долю (38 % годом ранее), размещая длинные ОФЗ-ПД под 16–17 %.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337304" y="4572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565904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488" y="4855464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160264" y="47091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</a:t>
            </a:r>
            <a:endParaRPr lang="en-US" sz="1250" dirty="0"/>
          </a:p>
        </p:txBody>
      </p:sp>
      <p:sp>
        <p:nvSpPr>
          <p:cNvPr id="20" name="Text 12"/>
          <p:cNvSpPr txBox="1"/>
          <p:nvPr/>
        </p:nvSpPr>
        <p:spPr>
          <a:xfrm>
            <a:off x="4565904" y="53492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Юань догнал доллар: 1,88 трлн руб. против 1,91. Долларовые бумаги — в основном замещающие, новые выпуски идут в юанях под 8,5–9 %.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8125968" y="4572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8354568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5152" y="4855464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948928" y="47091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первички</a:t>
            </a:r>
            <a:endParaRPr lang="en-US" sz="1250" dirty="0"/>
          </a:p>
        </p:txBody>
      </p:sp>
      <p:sp>
        <p:nvSpPr>
          <p:cNvPr id="25" name="Text 16"/>
          <p:cNvSpPr txBox="1"/>
          <p:nvPr/>
        </p:nvSpPr>
        <p:spPr>
          <a:xfrm>
            <a:off x="8354568" y="53492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88 % размещений 2025 г. — AAA и AA. Для эмитентов ниже A рынок почти закрыт: при ставке 14–21 % их купон 25–30 % не окупается бизнесом.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БК «Регион», обзор за I полугодие 2026 г.; РБК по данным Cbonds, итоги 2025 г.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Частный инвестор на рынке облигаций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 млн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331720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брокерских счетов физлиц на МосБирже в I полугодии 2026 г.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945636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0370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 трлн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22876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— покупки корпоративных облигаций физлицами за 2025 г., вдвое больше 2024 г.; ОФЗ — ещё 0,49 трлн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1645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19 %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331720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 корпоративными облигациями в I полугодии 2026 г. — физлица; в 2025 г. — 31 %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3945636"/>
            <a:ext cx="2743200" cy="2226564"/>
          </a:xfrm>
          <a:prstGeom prst="roundRect">
            <a:avLst>
              <a:gd name="adj" fmla="val 410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49040" y="40370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45 %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4722876"/>
            <a:ext cx="21945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проблемных облигаций 2025 г. находилось на руках у физлиц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00800" y="1417320"/>
          <a:ext cx="523951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6400800" y="4389120"/>
            <a:ext cx="5239512" cy="1783080"/>
          </a:xfrm>
          <a:prstGeom prst="roundRect">
            <a:avLst>
              <a:gd name="adj" fmla="val 5128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29400" y="4389120"/>
            <a:ext cx="4782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для вас: </a:t>
            </a:r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розница пришла на рынок облигаций за купонами 20 %+ и собрала почти половину дефолтов. Институционалы покупают AAA, физлица — ВДО. Правило: доля одного эмитента ниже A — не больше 1–2 % портфеля.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МосБиржа; Банк России, обзор финансовых инструментов за 2025 г.; Ведомости, 06.02.2026; Эксперт РА; НКР (оценка за 9 месяцев 2026 г. — не менее 30 компаний).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Эшелоны: как изменилась структура рынка за десять лет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1554480"/>
            <a:ext cx="4050792" cy="2217420"/>
          </a:xfrm>
          <a:prstGeom prst="roundRect">
            <a:avLst>
              <a:gd name="adj" fmla="val 412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818120" y="17373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81" y="1833921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12480" y="16916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эшелон вырос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818120" y="2267712"/>
            <a:ext cx="3593592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64,5 % до 78,3 %: при высоких ставках занимать на бирже могут только крупнейшие. Роснефть, Газпром, Сбербанк, РЖД и институты развития формируют рынок.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589520" y="3954780"/>
            <a:ext cx="4050792" cy="2217420"/>
          </a:xfrm>
          <a:prstGeom prst="roundRect">
            <a:avLst>
              <a:gd name="adj" fmla="val 412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18120" y="41376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681" y="4234221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40919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эшелон сжался вдвое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7818120" y="4668012"/>
            <a:ext cx="3593592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12,8 % до 6,6 %: средний бизнес ушёл в банковские кредиты и ЦФА. Зато ВДО выросли с 0,9 % до 3,4 %: розничный спрос на купон 20 %+ создал отдельный сегмент с 612 выпусками.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данные лекции (2015 г.); БК «Регион», обзор за I полугодие 2026 г. Эшелоны: 1-й — AAA и AA, 2-й — A, 3-й — BBB и ниже с рейтингом, ВДО — высокодоходные, в основном без рейтинга или B.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Флоатеры в размещениях и ОФЗ-ПК: реакция рынка на ставку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943600" y="14173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68680" y="493776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берут флоатеры, когда не хотят фиксировать высокую ставку (2024 г.) и когда снижение ставки замедляется (2026 г.); в 2025 г., на пике ожиданий снижения, они фиксировали. Минфин, наоборот, в 2026 г. уходит от флоатеров: при ставке 14 % он готов фиксировать 16–17 % на 10 лет, чтобы не зависеть от будущих решений ЦБ.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Эксперт РА (2024); РБК/Cbonds (2025); МосБиржа, дайджест за I полугодие 2026 г.; БК «Регион».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должен по облигациям и в какой валюте, 2026 г.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309360" y="1417320"/>
          <a:ext cx="533095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937760"/>
            <a:ext cx="3514344" cy="1234440"/>
          </a:xfrm>
          <a:prstGeom prst="roundRect">
            <a:avLst>
              <a:gd name="adj" fmla="val 74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77240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2212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50749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 — половина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777240" y="571500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36,6 из 74,2 трлн руб. — госдолг в облигациях. Для сравнения: в 2007 г. весь рынок был 2,6 трлн.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337304" y="4937760"/>
            <a:ext cx="3514344" cy="1234440"/>
          </a:xfrm>
          <a:prstGeom prst="roundRect">
            <a:avLst>
              <a:gd name="adj" fmla="val 740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565904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488" y="522122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60264" y="50749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больше реального сектора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4565904" y="571500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 и другие финансовые организации вместе — 18,8 трлн, нефинансовые компании — 18,7. Половина «корпоративного» рынка — это лизинг, ипотечные агенты и институты развития.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8125968" y="4937760"/>
            <a:ext cx="3514344" cy="1234440"/>
          </a:xfrm>
          <a:prstGeom prst="roundRect">
            <a:avLst>
              <a:gd name="adj" fmla="val 74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354568" y="5120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52" y="522122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48928" y="507492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 — 7 трлн руб.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8354568" y="571500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Замещающие корпоративные и суверенные бумаги (2,9 трлн) — наследство еврооблигаций; юаневые (2,2 трлн с ОФЗ) — новые выпуски. Доллар больше не занимают.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Банк России, статистика выпущенных на внутреннем рынке ценных бумаг на 01.09.2026; БК «Регион», обзор за I полугодие 2026 г.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 · СТАТИСТИКА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покупает: физлица, фонды и банки на вторичном рынке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17920" y="1417320"/>
          <a:ext cx="542239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68680" y="493776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видно: </a:t>
            </a:r>
            <a:pPr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физлиц в торгах падает с 31 % до 15 %, но не потому, что они продают: в августе 2026 г. розница вложила в облигации 151,6 млрд руб. нетто (90 % — корпоративные). Физлица покупают и держат до погашения, обороты делают фонды и банки. Розница — «якорный» держатель, который определяет спрос в букбилдинге на выпуски до 5 млрд руб.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МосБиржа (итоги 2025 г., дайджест за I полугодие 2026 г.); Банк России, обзор рисков финансовых рынков за июль 2026 г.; finance.mail.ru по данным МосБиржи за август 2026 г.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сравнения: рынок облигаций США и рынок еврооблигаций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Рынок облигаций США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Государственные облигации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Облигации федеральных агентств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Муниципальные облигации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Корпоративные облигации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Международные облигации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Еврооблигации по эмитентам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Наднациональные институты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Государственные институты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Частные финансовые институты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8229600" y="1371600"/>
          <a:ext cx="341071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5"/>
          <p:cNvSpPr/>
          <p:nvPr/>
        </p:nvSpPr>
        <p:spPr>
          <a:xfrm>
            <a:off x="548640" y="4572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77240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85546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71600" y="47091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США отличаются от России</a:t>
            </a:r>
            <a:endParaRPr lang="en-US" sz="1250" dirty="0"/>
          </a:p>
        </p:txBody>
      </p:sp>
      <p:sp>
        <p:nvSpPr>
          <p:cNvPr id="15" name="Text 8"/>
          <p:cNvSpPr txBox="1"/>
          <p:nvPr/>
        </p:nvSpPr>
        <p:spPr>
          <a:xfrm>
            <a:off x="777240" y="53492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США муниципальные облигации — 12 % рынка, в России — 0,6 %; у нас нет и аналога федеральных агентств (ипотечные Fannie Mae и Freddie Mac — 22 %). Зато доля корпоративных похожа: 27 % против 52 %.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337304" y="4572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565904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488" y="4855464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160264" y="47091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Еврооблигация</a:t>
            </a:r>
            <a:endParaRPr lang="en-US" sz="1250" dirty="0"/>
          </a:p>
        </p:txBody>
      </p:sp>
      <p:sp>
        <p:nvSpPr>
          <p:cNvPr id="20" name="Text 12"/>
          <p:cNvSpPr txBox="1"/>
          <p:nvPr/>
        </p:nvSpPr>
        <p:spPr>
          <a:xfrm>
            <a:off x="4565904" y="53492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Облигация, размещённая за пределами страны эмитента в валюте, отличной от валюты этой страны: российская компания занимает доллары у инвесторов в Лондоне. Две трети мирового рынка — США и ЕС, Россия — 0,5 %.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8125968" y="4572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8354568" y="4754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152" y="4855464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948928" y="470916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учебные</a:t>
            </a:r>
            <a:endParaRPr lang="en-US" sz="1250" dirty="0"/>
          </a:p>
        </p:txBody>
      </p:sp>
      <p:sp>
        <p:nvSpPr>
          <p:cNvPr id="25" name="Text 16"/>
          <p:cNvSpPr txBox="1"/>
          <p:nvPr/>
        </p:nvSpPr>
        <p:spPr>
          <a:xfrm>
            <a:off x="8354568" y="534924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— из материалов курса (середина 2010-х); пропорции с тех пор изменились, но порядок величин сохранился. Сегодняшняя Россия на внешнем рынке — см. следующий слайд.</a:t>
            </a:r>
            <a:endParaRPr lang="en-US" sz="10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РЫНОК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Еврооблигации российских эмитентов: 2019 г. и что от них осталось в 2026 г.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9144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Эмитент, 2019 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Объём, млрд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 доходность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Государственные (дюрация 7 лет)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2,3 %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Корпоративные (дюрация 3 года)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4,5 % банки; 3,2 % нефинансовый сектор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657600"/>
            <a:ext cx="6400800" cy="2514600"/>
          </a:xfrm>
          <a:prstGeom prst="roundRect">
            <a:avLst>
              <a:gd name="adj" fmla="val 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384048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01" y="3937041"/>
            <a:ext cx="245791" cy="24579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7947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случилось в 2022 г.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4370832"/>
            <a:ext cx="59436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Санкции и блокировка Euroclear: платежи по еврооблигациям перестали доходить до российских держателей. Указ Президента № 430 обязал эмитентов выпустить замещающие облигации: те же условия, расчёты в рублях по курсу ЦБ, бумаги в НРД.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223760" y="1554480"/>
            <a:ext cx="4416552" cy="1429512"/>
          </a:xfrm>
          <a:prstGeom prst="roundRect">
            <a:avLst>
              <a:gd name="adj" fmla="val 6397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498080" y="164592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 трлн руб.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498080" y="2331720"/>
            <a:ext cx="38679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замещающие облигации на 30.09.2026 (54 выпуска, 80 % в долларах)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223760" y="3148584"/>
            <a:ext cx="4416552" cy="1429512"/>
          </a:xfrm>
          <a:prstGeom prst="roundRect">
            <a:avLst>
              <a:gd name="adj" fmla="val 63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498080" y="3240024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 трлн руб.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7498080" y="3925824"/>
            <a:ext cx="38679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суверенные замещающие: $14,1 млрд и €2,6 млрд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223760" y="4742688"/>
            <a:ext cx="4416552" cy="1429512"/>
          </a:xfrm>
          <a:prstGeom prst="roundRect">
            <a:avLst>
              <a:gd name="adj" fmla="val 639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498080" y="4834128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 трлн руб.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7498080" y="5519928"/>
            <a:ext cx="38679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облигации в юанях — новый «внешний» рынок, который на деле внутренний: торгуются на МосБирже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2179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данные лекции (2019); Cbonds, индекс замещающих облигаций; БК «Регион», обзор за I полугодие 2026 г.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4A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743200" cy="2743200"/>
          </a:xfrm>
          <a:prstGeom prst="ellipse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32520" y="10515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  ·  РЫНОК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российские компании перестали выпускать еврооблигации и чем их заменили?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Вспомните, зачем вообще занимать в валюте за рубежом, и что из этих причин ещё работает.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доступа к западной инфраструктуре расчётов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рынок даёт нужные объёмы: 9 трлн руб. в год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8776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Валютный спрос удовлетворяют юаневые и замещающие бумаги на МосБирже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8844" y="4343400"/>
            <a:ext cx="2601468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4892040"/>
            <a:ext cx="2144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перечисленное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Поднимите руку / напишите в чат. 2–3 минуты на обсуждение.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 ·  СУТЬ В ТРЁХ ПУНКТАХ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Рынок: главное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240024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5" y="1949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трлн руб. и рост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×76 за 20 лет; 52 % всего рынка облигаций — корпоративные. Регионы ушли с рынка (0,6 %), появились замещающие и юаневые бумаги.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7304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11624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7028688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389" y="19495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1624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Концентрация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11624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Четверть рынка — нефтегаз, 78 % — AAA и AA. ВДО — 3,4 % объёма, но 612 выпусков и почти все дефолты: до 50 эмитентов в 2026 г.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1554480"/>
            <a:ext cx="3514344" cy="3063240"/>
          </a:xfrm>
          <a:prstGeom prst="roundRect">
            <a:avLst>
              <a:gd name="adj" fmla="val 298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0028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5"/>
          <p:cNvSpPr/>
          <p:nvPr/>
        </p:nvSpPr>
        <p:spPr>
          <a:xfrm>
            <a:off x="10817352" y="1828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053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00288" y="256032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рынок стал внутренним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00288" y="3337560"/>
            <a:ext cx="2965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Еврооблигации на $166 млрд (2019) заменили замещающие (2,8 трлн руб.) и юаневые (1,9 трлн руб.) облигации на МосБирже.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263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4937760"/>
            <a:ext cx="9902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</a:t>
            </a:r>
            <a:pPr indent="0" marL="0">
              <a:buNone/>
            </a:pPr>
            <a:r>
              <a:rPr lang="en-US" sz="13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подводим итоги: десять чисел, формулы, глоссарий и задачи к семинару.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в десяти числах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737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32,6 %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06040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корпоративных облигаций — флоатеры на 01.07.2026; 7,4 трлн руб. привязаны к ключевой ставке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07208" y="1554480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90088" y="1737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дней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2990088" y="2606040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оферты эмитент объявляет ставку следующего купона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65776" y="1554480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48656" y="1737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и 11,8 %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248656" y="2606040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бескупонной облигации за 80 %: на год и на два года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24344" y="1554480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07224" y="1737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294,3 руб.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507224" y="2606040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девятый купон Газпрома 1999 г.: индексация номинала на рост курса с 25,11 до 32,5 руб./$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582912" y="1554480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65792" y="17373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$117, а не $150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765792" y="2606040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получал нерезидент от ГКО с форвардом по 7,7 руб./$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986784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16966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97,25 %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5038344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отсечения в задаче аукциона, если нужны все 3 млн облигаций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807208" y="3986784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90088" y="416966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минут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2990088" y="5038344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столько «Газпром капитал» собрал книгу на 60 млрд руб. по КС + 150 б.п.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065776" y="3986784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48656" y="416966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трлн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5248656" y="5038344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первичных размещений в 2025 г. — рекорд, в 1,5 раза больше 2024 г.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324344" y="3986784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07224" y="416966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 трлн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7507224" y="5038344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 корпоративных облигаций в обращении на 01.07.2026; ×76 с 2006 г.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582912" y="3986784"/>
            <a:ext cx="2057400" cy="2231136"/>
          </a:xfrm>
          <a:prstGeom prst="roundRect">
            <a:avLst>
              <a:gd name="adj" fmla="val 444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765792" y="416966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</a:t>
            </a:r>
            <a:endParaRPr lang="en-US" sz="2800" dirty="0"/>
          </a:p>
        </p:txBody>
      </p:sp>
      <p:sp>
        <p:nvSpPr>
          <p:cNvPr id="37" name="Text 34"/>
          <p:cNvSpPr txBox="1"/>
          <p:nvPr/>
        </p:nvSpPr>
        <p:spPr>
          <a:xfrm>
            <a:off x="9765792" y="5038344"/>
            <a:ext cx="16916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эмитентов могут допустить дефолт в 2026 г. — максимум с 2010 г.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формул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облигации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1554480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Σ C / (1 + r)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H / (1 + r)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08776" y="155448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83096" y="155448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цены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677656" y="1554480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 / P ≈ −MD × Δr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353056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353056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2353056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купон = КС (или RUONIA) + спред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08776" y="2353056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83096" y="2353056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Бескупонная, упрощённо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677656" y="2353056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(H − P) / P × 365 / 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151632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151632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Бескупонная, точно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3151632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(H / P)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365/t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08776" y="3151632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83096" y="3151632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Индексируемый купон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677656" y="3151632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 × c × 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Δt / 365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950208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3950208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номинала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017520" y="3950208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H × (R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08776" y="3950208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83096" y="3950208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Эффективная ставка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8677656" y="3950208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(1 + r</a:t>
            </a:r>
            <a:pPr indent="0" marL="0">
              <a:buNone/>
            </a:pPr>
            <a:r>
              <a:rPr lang="en-US" sz="1400" b="1" baseline="-4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m)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4748784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4748784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Бессрочная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3017520" y="4748784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C / r,   MD = 1 / r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208776" y="4748784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83096" y="4748784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Отсечение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677656" y="4748784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цена (ставка) для всех победителей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48640" y="554736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2960" y="554736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Аннуитет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3017520" y="5547360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 = A × [1 − (1 + r)</a:t>
            </a:r>
            <a:pPr indent="0" marL="0">
              <a:buNone/>
            </a:pPr>
            <a:r>
              <a:rPr lang="en-US" sz="1400" b="1" baseline="30000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r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208776" y="554736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83096" y="554736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потеря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8677656" y="5547360"/>
            <a:ext cx="277977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× (1 − возврат)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Глоссарий: двенадцать терминов лекции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купон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1554480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ставка купона на весь срок обращения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53056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353056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 купон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2353056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известны заранее, но различаются по периодам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151632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51632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Переменный купон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3151632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определяется в ходе обращения: по ставке, инфляции, курсу или решению эмитента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950208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950208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108960" y="3950208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 с купоном, привязанным к ключевой ставке или RUONIA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748784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748784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Оферта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4748784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инвестора предъявить облигацию к выкупу по номиналу в заранее известную дату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54736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473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 облигация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108960" y="5547360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только от разницы между ценой покупки и номиналом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08776" y="155448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37376" y="155448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Индексируемая облигация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769096" y="1554480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номинал или купон привязаны к курсу валюты или инфляции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08776" y="2353056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37376" y="2353056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Замещающая облигация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769096" y="2353056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выпущена взамен еврооблигации: номинал в валюте, расчёты в рублях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08776" y="3151632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37376" y="3151632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цене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769096" y="3151632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задан, заявки с ценой, единая цена отсечения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08776" y="3950208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37376" y="3950208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купону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769096" y="3950208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100 %, заявки со ставкой, единая ставка отсечения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208776" y="4748784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37376" y="4748784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Букбилдинг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8769096" y="4748784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книги заявок организатором с ориентиром купона и аллокацией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208776" y="5547360"/>
            <a:ext cx="5431536" cy="6705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37376" y="554736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Еврооблигация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769096" y="5547360"/>
            <a:ext cx="264261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облигация, размещённая за рубежом в иностранной для эмитента валюте</a:t>
            </a:r>
            <a:endParaRPr lang="en-US" sz="11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7393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25880" y="1709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22" y="182057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11680" y="1645920"/>
            <a:ext cx="935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Купон — это распределение процентного риска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2011680" y="1984248"/>
            <a:ext cx="9354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купон оставляет риск инвестору, переменный переносит на эмитента; в 2026 г. треть рынка — флоатеры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268833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325880" y="26243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522" y="2734970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011680" y="2560320"/>
            <a:ext cx="935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Оферта защищает инвестора от произвола по купону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2011680" y="2898648"/>
            <a:ext cx="9354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меняет ставку — инвестор вправе сдать бумагу по 100 %; пропущенная оферта — самая частая ошибка новичка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3832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360273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7724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1325880" y="35387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22" y="3649370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011680" y="3474720"/>
            <a:ext cx="935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— способ занять, когда в рубль не верят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2011680" y="3813048"/>
            <a:ext cx="9354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Газпром 1999 г., ОФЗ-ИН, замещающие и юаневые облигации: эмитент берёт риск курса или инфляции и платит меньший купон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42976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E0D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240" y="451713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7724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325880" y="4453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522" y="4563770"/>
            <a:ext cx="281635" cy="28163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2011680" y="4389120"/>
            <a:ext cx="935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размещения рождается из спроса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2011680" y="4727448"/>
            <a:ext cx="9354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цена отсечения на аукционе, снижение ориентира и аллокация в букбилдинге; участие в размещении не гарантирует прибыли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48640" y="5212080"/>
            <a:ext cx="11091672" cy="804672"/>
          </a:xfrm>
          <a:prstGeom prst="roundRect">
            <a:avLst>
              <a:gd name="adj" fmla="val 11364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77240" y="5431536"/>
            <a:ext cx="365760" cy="365760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77240" y="5431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1325880" y="53675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522" y="5478170"/>
            <a:ext cx="281635" cy="28163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2011680" y="5303520"/>
            <a:ext cx="935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большой, но концентрированный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2011680" y="5641848"/>
            <a:ext cx="9354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 трлн руб., 78 % у AAA и AA; дефолты сосредоточены в 3,4 % ВДО, где премия часто не покрывает риск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для самопроверки и семинара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3072" y="566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065" y="737921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08676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048256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64592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Бескупонная облигация номиналом 1 000 руб. куплена за 850 руб. за 270 дней до погашения. Доходность к погашению упрощённо и точно?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542032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23,9 % и 24,6 %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1636" y="1554480"/>
            <a:ext cx="5408676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05956" y="2048256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100316" y="164592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Флоатер «КС + 2 п.п.», ключевая ставка в купонном периоде 14 %. Номинал 1 000 руб., купон раз в квартал. Размер купона?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100316" y="2542032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40 руб. (16 % / 4)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200400"/>
            <a:ext cx="5408676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29184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Индексируемая облигация: номинал 1 000 руб., R₀ = 80 руб./$, при погашении R = 92. Какой «девятый купон»?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187952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150 руб.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3200400"/>
            <a:ext cx="5408676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05956" y="3694176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0595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100316" y="329184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 по купону на 5 млн бумаг: заявки 12 % × 2 млн, 12,5 % × 2 млн, 13 % × 3 млн. Ставка отсечения и купон для первого участника?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100316" y="4187952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13 %; все получают 13 %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4846320"/>
            <a:ext cx="5408676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" y="5340096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417320" y="493776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Нерезидент вложил $100 в ГКО по 25 руб./$ и получил 3 500 руб. Форвард 30 руб./$. Доходность в долларах?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5833872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+16,7 %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31636" y="4846320"/>
            <a:ext cx="5408676" cy="1371600"/>
          </a:xfrm>
          <a:prstGeom prst="roundRect">
            <a:avLst>
              <a:gd name="adj" fmla="val 6667"/>
            </a:avLst>
          </a:prstGeom>
          <a:solidFill>
            <a:srgbClr val="E7F1EC"/>
          </a:solidFill>
          <a:ln w="12700">
            <a:solidFill>
              <a:srgbClr val="E7F1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05956" y="5340096"/>
            <a:ext cx="384048" cy="384048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05956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100316" y="4937760"/>
            <a:ext cx="43113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 BB предлагает купон 24 % при 16 % у AAA. Вероятность дефолта 12 % в год, возврат 25 %. Покрывает ли премия ожидаемую потерю?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100316" y="5833872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премия 8 п.п. &lt; потеря 9 п.п.: нет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4A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2743200" cy="2743200"/>
          </a:xfrm>
          <a:prstGeom prst="ellipse">
            <a:avLst/>
          </a:prstGeom>
          <a:solidFill>
            <a:srgbClr val="12312B"/>
          </a:solidFill>
          <a:ln w="12700">
            <a:solidFill>
              <a:srgbClr val="1231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32520" y="10515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 АУДИТОРИИ  ·  РЕФЛЕКСИЯ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чем вы уходите с лекции?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фраза от каждого. И вернёмся к разминке: изменился ли ваш ответ про фикс и флоатер?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3544824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9204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неожиданное сегодня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4343400"/>
            <a:ext cx="3544824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0664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489204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хочу разобрать подробнее на семинаре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5488" y="4343400"/>
            <a:ext cx="3544824" cy="1280160"/>
          </a:xfrm>
          <a:prstGeom prst="roundRect">
            <a:avLst>
              <a:gd name="adj" fmla="val 7143"/>
            </a:avLst>
          </a:prstGeom>
          <a:solidFill>
            <a:srgbClr val="FBF3D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4088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4088" y="4892040"/>
            <a:ext cx="3087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Вопрос, который остался без ответа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ответы помогут спланировать семинар и следующую лекцию.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2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828800"/>
            <a:ext cx="5029200" cy="5029200"/>
          </a:xfrm>
          <a:prstGeom prst="ellipse">
            <a:avLst/>
          </a:prstGeom>
          <a:solidFill>
            <a:srgbClr val="1A4A3E"/>
          </a:solidFill>
          <a:ln w="12700">
            <a:solidFill>
              <a:srgbClr val="1A4A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35661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МАЙНОР  ·  ЛЕКЦИЯ 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4617720"/>
            <a:ext cx="54864" cy="731520"/>
          </a:xfrm>
          <a:prstGeom prst="rect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572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Лысенок Н.И.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· НИУ ВШЭ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рынки и инструменты  ·  Лекция 5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Финансовые рынки и инструменты — Лекция 5. Корпоративные облигации: купоны, выпуск, размещение и рынок</dc:title>
  <dc:subject>PptxGenJS Presentation</dc:subject>
  <dc:creator>Лысенок Н.И.</dc:creator>
  <cp:lastModifiedBy>Лысенок Н.И.</cp:lastModifiedBy>
  <cp:revision>1</cp:revision>
  <dcterms:created xsi:type="dcterms:W3CDTF">2026-10-07T06:14:39Z</dcterms:created>
  <dcterms:modified xsi:type="dcterms:W3CDTF">2026-10-07T06:14:39Z</dcterms:modified>
</cp:coreProperties>
</file>